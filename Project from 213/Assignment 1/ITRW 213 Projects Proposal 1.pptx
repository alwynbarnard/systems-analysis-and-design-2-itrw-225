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6" r:id="rId9"/>
    <p:sldId id="267" r:id="rId10"/>
    <p:sldId id="269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C04445-73D1-4D13-9EE2-13F1939AB81A}" type="doc">
      <dgm:prSet loTypeId="urn:microsoft.com/office/officeart/2005/8/layout/chevron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61F3DF-03DC-40E4-A01D-8F2728E37CB3}">
      <dgm:prSet phldrT="[Text]"/>
      <dgm:spPr/>
      <dgm:t>
        <a:bodyPr/>
        <a:lstStyle/>
        <a:p>
          <a:r>
            <a:rPr lang="en-US" dirty="0"/>
            <a:t>Entities</a:t>
          </a:r>
        </a:p>
      </dgm:t>
    </dgm:pt>
    <dgm:pt modelId="{249A594F-B14C-4F32-9EBD-0A2BF5C8477F}" type="parTrans" cxnId="{03EF869A-7775-4556-A30E-DDE930DFF9D1}">
      <dgm:prSet/>
      <dgm:spPr/>
      <dgm:t>
        <a:bodyPr/>
        <a:lstStyle/>
        <a:p>
          <a:endParaRPr lang="en-US"/>
        </a:p>
      </dgm:t>
    </dgm:pt>
    <dgm:pt modelId="{04768715-570F-479D-A07F-77212E454D91}" type="sibTrans" cxnId="{03EF869A-7775-4556-A30E-DDE930DFF9D1}">
      <dgm:prSet/>
      <dgm:spPr/>
      <dgm:t>
        <a:bodyPr/>
        <a:lstStyle/>
        <a:p>
          <a:endParaRPr lang="en-US"/>
        </a:p>
      </dgm:t>
    </dgm:pt>
    <dgm:pt modelId="{70B563EC-3486-459D-ACB9-4635E3B1471F}">
      <dgm:prSet phldrT="[Text]"/>
      <dgm:spPr/>
      <dgm:t>
        <a:bodyPr/>
        <a:lstStyle/>
        <a:p>
          <a:r>
            <a:rPr lang="en-US"/>
            <a:t>Process</a:t>
          </a:r>
        </a:p>
      </dgm:t>
    </dgm:pt>
    <dgm:pt modelId="{451B66AD-C380-4AEC-80C9-AF67C0A6C5BD}" type="parTrans" cxnId="{8CC95907-EEF2-4553-8022-75AC703EACDB}">
      <dgm:prSet/>
      <dgm:spPr/>
      <dgm:t>
        <a:bodyPr/>
        <a:lstStyle/>
        <a:p>
          <a:endParaRPr lang="en-US"/>
        </a:p>
      </dgm:t>
    </dgm:pt>
    <dgm:pt modelId="{FEF1B0C9-364D-4374-BFF8-8BB682E8B412}" type="sibTrans" cxnId="{8CC95907-EEF2-4553-8022-75AC703EACDB}">
      <dgm:prSet/>
      <dgm:spPr/>
      <dgm:t>
        <a:bodyPr/>
        <a:lstStyle/>
        <a:p>
          <a:endParaRPr lang="en-US"/>
        </a:p>
      </dgm:t>
    </dgm:pt>
    <dgm:pt modelId="{890B0ADC-B46D-408C-8755-D533F875417E}">
      <dgm:prSet phldrT="[Text]"/>
      <dgm:spPr/>
      <dgm:t>
        <a:bodyPr/>
        <a:lstStyle/>
        <a:p>
          <a:r>
            <a:rPr lang="en-US"/>
            <a:t>Add knew artist to the system</a:t>
          </a:r>
        </a:p>
      </dgm:t>
    </dgm:pt>
    <dgm:pt modelId="{EF6216F3-C202-436C-8E07-ABD451306759}" type="parTrans" cxnId="{BDFC4AFB-A895-4B13-8FC7-B08E5E23C8F9}">
      <dgm:prSet/>
      <dgm:spPr/>
      <dgm:t>
        <a:bodyPr/>
        <a:lstStyle/>
        <a:p>
          <a:endParaRPr lang="en-US"/>
        </a:p>
      </dgm:t>
    </dgm:pt>
    <dgm:pt modelId="{FAA79B54-B6A1-4F55-946B-BFECD4EAB0CA}" type="sibTrans" cxnId="{BDFC4AFB-A895-4B13-8FC7-B08E5E23C8F9}">
      <dgm:prSet/>
      <dgm:spPr/>
      <dgm:t>
        <a:bodyPr/>
        <a:lstStyle/>
        <a:p>
          <a:endParaRPr lang="en-US"/>
        </a:p>
      </dgm:t>
    </dgm:pt>
    <dgm:pt modelId="{B8FCB336-98D5-4D11-95C0-D1530E049477}">
      <dgm:prSet phldrT="[Text]"/>
      <dgm:spPr/>
      <dgm:t>
        <a:bodyPr/>
        <a:lstStyle/>
        <a:p>
          <a:r>
            <a:rPr lang="en-US"/>
            <a:t>Reporting</a:t>
          </a:r>
        </a:p>
      </dgm:t>
    </dgm:pt>
    <dgm:pt modelId="{D8A6C688-0FC7-4017-ACF9-D7729DD1A10A}" type="parTrans" cxnId="{16699F31-F634-4DD4-BBDC-E0FCF7150ABB}">
      <dgm:prSet/>
      <dgm:spPr/>
      <dgm:t>
        <a:bodyPr/>
        <a:lstStyle/>
        <a:p>
          <a:endParaRPr lang="en-US"/>
        </a:p>
      </dgm:t>
    </dgm:pt>
    <dgm:pt modelId="{79B6A4D4-04C9-43BC-875C-DC1906D3A31C}" type="sibTrans" cxnId="{16699F31-F634-4DD4-BBDC-E0FCF7150ABB}">
      <dgm:prSet/>
      <dgm:spPr/>
      <dgm:t>
        <a:bodyPr/>
        <a:lstStyle/>
        <a:p>
          <a:endParaRPr lang="en-US"/>
        </a:p>
      </dgm:t>
    </dgm:pt>
    <dgm:pt modelId="{DF2C8545-500E-4913-96FB-426A9608B7DB}">
      <dgm:prSet phldrT="[Text]"/>
      <dgm:spPr/>
      <dgm:t>
        <a:bodyPr/>
        <a:lstStyle/>
        <a:p>
          <a:r>
            <a:rPr lang="en-US"/>
            <a:t>Sales</a:t>
          </a:r>
        </a:p>
      </dgm:t>
    </dgm:pt>
    <dgm:pt modelId="{7690ECB1-DBE6-416A-A73E-9484DBD96CF5}" type="parTrans" cxnId="{CB385016-D254-4080-9A24-4BF3C2079345}">
      <dgm:prSet/>
      <dgm:spPr/>
      <dgm:t>
        <a:bodyPr/>
        <a:lstStyle/>
        <a:p>
          <a:endParaRPr lang="en-US"/>
        </a:p>
      </dgm:t>
    </dgm:pt>
    <dgm:pt modelId="{1954E97F-53CB-466F-A8FA-4966149D5CD9}" type="sibTrans" cxnId="{CB385016-D254-4080-9A24-4BF3C2079345}">
      <dgm:prSet/>
      <dgm:spPr/>
      <dgm:t>
        <a:bodyPr/>
        <a:lstStyle/>
        <a:p>
          <a:endParaRPr lang="en-US"/>
        </a:p>
      </dgm:t>
    </dgm:pt>
    <dgm:pt modelId="{1F027D0B-F935-4E6D-A57B-6F485BD896EB}">
      <dgm:prSet phldrT="[Text]"/>
      <dgm:spPr/>
      <dgm:t>
        <a:bodyPr/>
        <a:lstStyle/>
        <a:p>
          <a:r>
            <a:rPr lang="en-US"/>
            <a:t>Comission</a:t>
          </a:r>
        </a:p>
      </dgm:t>
    </dgm:pt>
    <dgm:pt modelId="{D6DD3BC5-EFDA-41E5-85CE-D1DF670DD5C2}" type="parTrans" cxnId="{F32DBD4D-5ABE-4504-8F00-C0AF659229F9}">
      <dgm:prSet/>
      <dgm:spPr/>
      <dgm:t>
        <a:bodyPr/>
        <a:lstStyle/>
        <a:p>
          <a:endParaRPr lang="en-US"/>
        </a:p>
      </dgm:t>
    </dgm:pt>
    <dgm:pt modelId="{F10C45C2-AEDF-41BF-BD45-07872CFF8893}" type="sibTrans" cxnId="{F32DBD4D-5ABE-4504-8F00-C0AF659229F9}">
      <dgm:prSet/>
      <dgm:spPr/>
      <dgm:t>
        <a:bodyPr/>
        <a:lstStyle/>
        <a:p>
          <a:endParaRPr lang="en-US"/>
        </a:p>
      </dgm:t>
    </dgm:pt>
    <dgm:pt modelId="{8E090F9C-2051-4396-B1A7-181AB090EAD7}">
      <dgm:prSet phldrT="[Text]"/>
      <dgm:spPr/>
      <dgm:t>
        <a:bodyPr/>
        <a:lstStyle/>
        <a:p>
          <a:r>
            <a:rPr lang="en-US"/>
            <a:t>Artwork</a:t>
          </a:r>
        </a:p>
      </dgm:t>
    </dgm:pt>
    <dgm:pt modelId="{97C99A07-1705-4459-8374-4DAC5598795F}" type="parTrans" cxnId="{3C50982C-2D45-4799-882C-88B57EB1C9EC}">
      <dgm:prSet/>
      <dgm:spPr/>
      <dgm:t>
        <a:bodyPr/>
        <a:lstStyle/>
        <a:p>
          <a:endParaRPr lang="en-US"/>
        </a:p>
      </dgm:t>
    </dgm:pt>
    <dgm:pt modelId="{A5BED5B7-CF5B-4424-AF0E-C0943CA9CDA6}" type="sibTrans" cxnId="{3C50982C-2D45-4799-882C-88B57EB1C9EC}">
      <dgm:prSet/>
      <dgm:spPr/>
      <dgm:t>
        <a:bodyPr/>
        <a:lstStyle/>
        <a:p>
          <a:endParaRPr lang="en-US"/>
        </a:p>
      </dgm:t>
    </dgm:pt>
    <dgm:pt modelId="{2DDD853F-5011-4D29-9D32-3527BA1E9A20}">
      <dgm:prSet phldrT="[Text]"/>
      <dgm:spPr/>
      <dgm:t>
        <a:bodyPr/>
        <a:lstStyle/>
        <a:p>
          <a:r>
            <a:rPr lang="en-US"/>
            <a:t>Add artwork to the system</a:t>
          </a:r>
        </a:p>
      </dgm:t>
    </dgm:pt>
    <dgm:pt modelId="{B6382BE9-FD55-44A5-B4BC-C5A2B6137AE2}" type="parTrans" cxnId="{DA71C30B-610F-4B78-ACD3-177DFCAC93C7}">
      <dgm:prSet/>
      <dgm:spPr/>
      <dgm:t>
        <a:bodyPr/>
        <a:lstStyle/>
        <a:p>
          <a:endParaRPr lang="en-US"/>
        </a:p>
      </dgm:t>
    </dgm:pt>
    <dgm:pt modelId="{B8888B4F-86F9-471C-B12D-896D6736A2BE}" type="sibTrans" cxnId="{DA71C30B-610F-4B78-ACD3-177DFCAC93C7}">
      <dgm:prSet/>
      <dgm:spPr/>
      <dgm:t>
        <a:bodyPr/>
        <a:lstStyle/>
        <a:p>
          <a:endParaRPr lang="en-US"/>
        </a:p>
      </dgm:t>
    </dgm:pt>
    <dgm:pt modelId="{251B1F6D-BEB8-41BF-8723-9A75D407BB45}">
      <dgm:prSet phldrT="[Text]"/>
      <dgm:spPr/>
      <dgm:t>
        <a:bodyPr/>
        <a:lstStyle/>
        <a:p>
          <a:r>
            <a:rPr lang="en-US"/>
            <a:t>Book event  for introduction</a:t>
          </a:r>
        </a:p>
      </dgm:t>
    </dgm:pt>
    <dgm:pt modelId="{836637BA-BBCF-4BFF-A78F-C17FA85EE28E}" type="parTrans" cxnId="{D1BD39F6-8BF5-4778-9A2F-20EC6A03BF09}">
      <dgm:prSet/>
      <dgm:spPr/>
      <dgm:t>
        <a:bodyPr/>
        <a:lstStyle/>
        <a:p>
          <a:endParaRPr lang="en-US"/>
        </a:p>
      </dgm:t>
    </dgm:pt>
    <dgm:pt modelId="{14EF2F82-01AF-4BE2-A39D-E9577DAC7A0B}" type="sibTrans" cxnId="{D1BD39F6-8BF5-4778-9A2F-20EC6A03BF09}">
      <dgm:prSet/>
      <dgm:spPr/>
      <dgm:t>
        <a:bodyPr/>
        <a:lstStyle/>
        <a:p>
          <a:endParaRPr lang="en-US"/>
        </a:p>
      </dgm:t>
    </dgm:pt>
    <dgm:pt modelId="{9719BEC8-D6ED-45DE-899E-072E9026BFD2}">
      <dgm:prSet phldrT="[Text]"/>
      <dgm:spPr/>
      <dgm:t>
        <a:bodyPr/>
        <a:lstStyle/>
        <a:p>
          <a:r>
            <a:rPr lang="en-US"/>
            <a:t>Selling of artwork</a:t>
          </a:r>
        </a:p>
      </dgm:t>
    </dgm:pt>
    <dgm:pt modelId="{28044969-1443-4524-9F28-AF69D368C7A0}" type="parTrans" cxnId="{80B83619-1626-4021-BFDF-CF3A70FEEA4A}">
      <dgm:prSet/>
      <dgm:spPr/>
      <dgm:t>
        <a:bodyPr/>
        <a:lstStyle/>
        <a:p>
          <a:endParaRPr lang="en-US"/>
        </a:p>
      </dgm:t>
    </dgm:pt>
    <dgm:pt modelId="{30BFACDC-952D-4895-AFE7-EC8E8BCF5027}" type="sibTrans" cxnId="{80B83619-1626-4021-BFDF-CF3A70FEEA4A}">
      <dgm:prSet/>
      <dgm:spPr/>
      <dgm:t>
        <a:bodyPr/>
        <a:lstStyle/>
        <a:p>
          <a:endParaRPr lang="en-US"/>
        </a:p>
      </dgm:t>
    </dgm:pt>
    <dgm:pt modelId="{6C010782-D717-46D5-B7AD-EDDC5BEF351C}">
      <dgm:prSet phldrT="[Text]"/>
      <dgm:spPr/>
      <dgm:t>
        <a:bodyPr/>
        <a:lstStyle/>
        <a:p>
          <a:r>
            <a:rPr lang="en-US"/>
            <a:t>Upkeep of system</a:t>
          </a:r>
        </a:p>
      </dgm:t>
    </dgm:pt>
    <dgm:pt modelId="{ED68DC0D-967D-4F68-B4DC-5A0481FB9277}" type="parTrans" cxnId="{C004BB1A-4703-47C5-9378-5CAE671B012B}">
      <dgm:prSet/>
      <dgm:spPr/>
      <dgm:t>
        <a:bodyPr/>
        <a:lstStyle/>
        <a:p>
          <a:endParaRPr lang="en-US"/>
        </a:p>
      </dgm:t>
    </dgm:pt>
    <dgm:pt modelId="{DA01315A-0740-495F-A500-599F5B67FD79}" type="sibTrans" cxnId="{C004BB1A-4703-47C5-9378-5CAE671B012B}">
      <dgm:prSet/>
      <dgm:spPr/>
      <dgm:t>
        <a:bodyPr/>
        <a:lstStyle/>
        <a:p>
          <a:endParaRPr lang="en-US"/>
        </a:p>
      </dgm:t>
    </dgm:pt>
    <dgm:pt modelId="{D8FEABDA-1574-48AD-84EE-79E95F94DE11}">
      <dgm:prSet/>
      <dgm:spPr/>
      <dgm:t>
        <a:bodyPr/>
        <a:lstStyle/>
        <a:p>
          <a:r>
            <a:rPr lang="en-US"/>
            <a:t>Clients</a:t>
          </a:r>
        </a:p>
      </dgm:t>
    </dgm:pt>
    <dgm:pt modelId="{8855494B-21C7-43E2-B237-1788B10B0065}" type="parTrans" cxnId="{89A136D4-9386-4289-8F88-535D9F7ED3A8}">
      <dgm:prSet/>
      <dgm:spPr/>
      <dgm:t>
        <a:bodyPr/>
        <a:lstStyle/>
        <a:p>
          <a:endParaRPr lang="en-US"/>
        </a:p>
      </dgm:t>
    </dgm:pt>
    <dgm:pt modelId="{6BB4B2C1-3575-4FEF-8DAB-939D73708EB3}" type="sibTrans" cxnId="{89A136D4-9386-4289-8F88-535D9F7ED3A8}">
      <dgm:prSet/>
      <dgm:spPr/>
      <dgm:t>
        <a:bodyPr/>
        <a:lstStyle/>
        <a:p>
          <a:endParaRPr lang="en-US"/>
        </a:p>
      </dgm:t>
    </dgm:pt>
    <dgm:pt modelId="{F8E30C53-5014-48FC-9FF4-6DC38C46BBC4}">
      <dgm:prSet/>
      <dgm:spPr/>
      <dgm:t>
        <a:bodyPr/>
        <a:lstStyle/>
        <a:p>
          <a:r>
            <a:rPr lang="en-US"/>
            <a:t>Artist</a:t>
          </a:r>
        </a:p>
      </dgm:t>
    </dgm:pt>
    <dgm:pt modelId="{109D1798-0DE2-45E0-84D6-69221F88250B}" type="parTrans" cxnId="{4215B222-6F00-4723-A980-4606BFC432E4}">
      <dgm:prSet/>
      <dgm:spPr/>
      <dgm:t>
        <a:bodyPr/>
        <a:lstStyle/>
        <a:p>
          <a:endParaRPr lang="en-US"/>
        </a:p>
      </dgm:t>
    </dgm:pt>
    <dgm:pt modelId="{EF8744EA-2B2F-41BF-AAA6-44D2471ECC87}" type="sibTrans" cxnId="{4215B222-6F00-4723-A980-4606BFC432E4}">
      <dgm:prSet/>
      <dgm:spPr/>
      <dgm:t>
        <a:bodyPr/>
        <a:lstStyle/>
        <a:p>
          <a:endParaRPr lang="en-US"/>
        </a:p>
      </dgm:t>
    </dgm:pt>
    <dgm:pt modelId="{4A8DA1B4-0C74-4C1E-8DD6-317B2ABA7125}">
      <dgm:prSet/>
      <dgm:spPr/>
      <dgm:t>
        <a:bodyPr/>
        <a:lstStyle/>
        <a:p>
          <a:r>
            <a:rPr lang="en-US"/>
            <a:t>Events</a:t>
          </a:r>
        </a:p>
      </dgm:t>
    </dgm:pt>
    <dgm:pt modelId="{EF990750-D2C5-43DD-A516-BD640E0423B0}" type="parTrans" cxnId="{8972CDAF-E791-4EAB-AF3C-0C678ED0A851}">
      <dgm:prSet/>
      <dgm:spPr/>
      <dgm:t>
        <a:bodyPr/>
        <a:lstStyle/>
        <a:p>
          <a:endParaRPr lang="en-US"/>
        </a:p>
      </dgm:t>
    </dgm:pt>
    <dgm:pt modelId="{BF1648CF-8E99-4CE5-80FA-C0C25A9F8E27}" type="sibTrans" cxnId="{8972CDAF-E791-4EAB-AF3C-0C678ED0A851}">
      <dgm:prSet/>
      <dgm:spPr/>
      <dgm:t>
        <a:bodyPr/>
        <a:lstStyle/>
        <a:p>
          <a:endParaRPr lang="en-US"/>
        </a:p>
      </dgm:t>
    </dgm:pt>
    <dgm:pt modelId="{8EBF74E8-985C-4F26-A498-425ADC11E44C}">
      <dgm:prSet/>
      <dgm:spPr/>
      <dgm:t>
        <a:bodyPr/>
        <a:lstStyle/>
        <a:p>
          <a:r>
            <a:rPr lang="en-US" dirty="0"/>
            <a:t>Inventory</a:t>
          </a:r>
        </a:p>
      </dgm:t>
    </dgm:pt>
    <dgm:pt modelId="{9851565A-839A-4FB6-974F-C412BCE7836E}" type="parTrans" cxnId="{DB97EC93-9198-4709-8582-56B04120B1B6}">
      <dgm:prSet/>
      <dgm:spPr/>
      <dgm:t>
        <a:bodyPr/>
        <a:lstStyle/>
        <a:p>
          <a:endParaRPr lang="en-US"/>
        </a:p>
      </dgm:t>
    </dgm:pt>
    <dgm:pt modelId="{0CF2F22E-95F5-4CCC-B6D4-A09EE8C3857C}" type="sibTrans" cxnId="{DB97EC93-9198-4709-8582-56B04120B1B6}">
      <dgm:prSet/>
      <dgm:spPr/>
      <dgm:t>
        <a:bodyPr/>
        <a:lstStyle/>
        <a:p>
          <a:endParaRPr lang="en-US"/>
        </a:p>
      </dgm:t>
    </dgm:pt>
    <dgm:pt modelId="{14928B99-A44B-4809-A16A-0B8007BEED29}" type="pres">
      <dgm:prSet presAssocID="{F2C04445-73D1-4D13-9EE2-13F1939AB81A}" presName="linearFlow" presStyleCnt="0">
        <dgm:presLayoutVars>
          <dgm:dir/>
          <dgm:animLvl val="lvl"/>
          <dgm:resizeHandles val="exact"/>
        </dgm:presLayoutVars>
      </dgm:prSet>
      <dgm:spPr/>
    </dgm:pt>
    <dgm:pt modelId="{7411A233-89EC-4C43-A08A-6F2BE5AE11F2}" type="pres">
      <dgm:prSet presAssocID="{1061F3DF-03DC-40E4-A01D-8F2728E37CB3}" presName="composite" presStyleCnt="0"/>
      <dgm:spPr/>
    </dgm:pt>
    <dgm:pt modelId="{13C2DD31-E951-4757-81BF-182D760AB5CE}" type="pres">
      <dgm:prSet presAssocID="{1061F3DF-03DC-40E4-A01D-8F2728E37CB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03A4FA2-B7DC-4636-8244-360FE6FB5E6B}" type="pres">
      <dgm:prSet presAssocID="{1061F3DF-03DC-40E4-A01D-8F2728E37CB3}" presName="descendantText" presStyleLbl="alignAcc1" presStyleIdx="0" presStyleCnt="3">
        <dgm:presLayoutVars>
          <dgm:bulletEnabled val="1"/>
        </dgm:presLayoutVars>
      </dgm:prSet>
      <dgm:spPr/>
    </dgm:pt>
    <dgm:pt modelId="{982375DE-7A0D-4260-B7EC-5E95C46D535C}" type="pres">
      <dgm:prSet presAssocID="{04768715-570F-479D-A07F-77212E454D91}" presName="sp" presStyleCnt="0"/>
      <dgm:spPr/>
    </dgm:pt>
    <dgm:pt modelId="{C3D85613-3155-41B4-9269-E188F1FD0BCA}" type="pres">
      <dgm:prSet presAssocID="{70B563EC-3486-459D-ACB9-4635E3B1471F}" presName="composite" presStyleCnt="0"/>
      <dgm:spPr/>
    </dgm:pt>
    <dgm:pt modelId="{2879A1AB-81A3-48A5-B712-FFDCA74BF7F2}" type="pres">
      <dgm:prSet presAssocID="{70B563EC-3486-459D-ACB9-4635E3B1471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685C338-5B74-4834-A852-E0590CF8EA0F}" type="pres">
      <dgm:prSet presAssocID="{70B563EC-3486-459D-ACB9-4635E3B1471F}" presName="descendantText" presStyleLbl="alignAcc1" presStyleIdx="1" presStyleCnt="3">
        <dgm:presLayoutVars>
          <dgm:bulletEnabled val="1"/>
        </dgm:presLayoutVars>
      </dgm:prSet>
      <dgm:spPr/>
    </dgm:pt>
    <dgm:pt modelId="{46449D92-C327-4667-A223-DFE644155D87}" type="pres">
      <dgm:prSet presAssocID="{FEF1B0C9-364D-4374-BFF8-8BB682E8B412}" presName="sp" presStyleCnt="0"/>
      <dgm:spPr/>
    </dgm:pt>
    <dgm:pt modelId="{FB086E77-0313-44F8-A94A-6E215C90E183}" type="pres">
      <dgm:prSet presAssocID="{B8FCB336-98D5-4D11-95C0-D1530E049477}" presName="composite" presStyleCnt="0"/>
      <dgm:spPr/>
    </dgm:pt>
    <dgm:pt modelId="{9EFEA93E-524D-4217-A3C0-47EFAEA32DAE}" type="pres">
      <dgm:prSet presAssocID="{B8FCB336-98D5-4D11-95C0-D1530E04947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6C54D606-F6CD-4F33-8183-F31649C3E889}" type="pres">
      <dgm:prSet presAssocID="{B8FCB336-98D5-4D11-95C0-D1530E04947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CC95907-EEF2-4553-8022-75AC703EACDB}" srcId="{F2C04445-73D1-4D13-9EE2-13F1939AB81A}" destId="{70B563EC-3486-459D-ACB9-4635E3B1471F}" srcOrd="1" destOrd="0" parTransId="{451B66AD-C380-4AEC-80C9-AF67C0A6C5BD}" sibTransId="{FEF1B0C9-364D-4374-BFF8-8BB682E8B412}"/>
    <dgm:cxn modelId="{DA71C30B-610F-4B78-ACD3-177DFCAC93C7}" srcId="{70B563EC-3486-459D-ACB9-4635E3B1471F}" destId="{2DDD853F-5011-4D29-9D32-3527BA1E9A20}" srcOrd="1" destOrd="0" parTransId="{B6382BE9-FD55-44A5-B4BC-C5A2B6137AE2}" sibTransId="{B8888B4F-86F9-471C-B12D-896D6736A2BE}"/>
    <dgm:cxn modelId="{9A90A114-CA8A-43D9-BC7C-BC225E949900}" type="presOf" srcId="{1F027D0B-F935-4E6D-A57B-6F485BD896EB}" destId="{6C54D606-F6CD-4F33-8183-F31649C3E889}" srcOrd="0" destOrd="1" presId="urn:microsoft.com/office/officeart/2005/8/layout/chevron2"/>
    <dgm:cxn modelId="{883FE515-058E-4DEA-A729-106A56DB6910}" type="presOf" srcId="{70B563EC-3486-459D-ACB9-4635E3B1471F}" destId="{2879A1AB-81A3-48A5-B712-FFDCA74BF7F2}" srcOrd="0" destOrd="0" presId="urn:microsoft.com/office/officeart/2005/8/layout/chevron2"/>
    <dgm:cxn modelId="{CB385016-D254-4080-9A24-4BF3C2079345}" srcId="{B8FCB336-98D5-4D11-95C0-D1530E049477}" destId="{DF2C8545-500E-4913-96FB-426A9608B7DB}" srcOrd="0" destOrd="0" parTransId="{7690ECB1-DBE6-416A-A73E-9484DBD96CF5}" sibTransId="{1954E97F-53CB-466F-A8FA-4966149D5CD9}"/>
    <dgm:cxn modelId="{80B83619-1626-4021-BFDF-CF3A70FEEA4A}" srcId="{70B563EC-3486-459D-ACB9-4635E3B1471F}" destId="{9719BEC8-D6ED-45DE-899E-072E9026BFD2}" srcOrd="3" destOrd="0" parTransId="{28044969-1443-4524-9F28-AF69D368C7A0}" sibTransId="{30BFACDC-952D-4895-AFE7-EC8E8BCF5027}"/>
    <dgm:cxn modelId="{C004BB1A-4703-47C5-9378-5CAE671B012B}" srcId="{70B563EC-3486-459D-ACB9-4635E3B1471F}" destId="{6C010782-D717-46D5-B7AD-EDDC5BEF351C}" srcOrd="4" destOrd="0" parTransId="{ED68DC0D-967D-4F68-B4DC-5A0481FB9277}" sibTransId="{DA01315A-0740-495F-A500-599F5B67FD79}"/>
    <dgm:cxn modelId="{CC47681D-7F1C-4491-A627-3010C3FCA4E4}" type="presOf" srcId="{6C010782-D717-46D5-B7AD-EDDC5BEF351C}" destId="{3685C338-5B74-4834-A852-E0590CF8EA0F}" srcOrd="0" destOrd="4" presId="urn:microsoft.com/office/officeart/2005/8/layout/chevron2"/>
    <dgm:cxn modelId="{6F9B951F-2011-4043-8845-C8E2D9EA98BF}" type="presOf" srcId="{890B0ADC-B46D-408C-8755-D533F875417E}" destId="{3685C338-5B74-4834-A852-E0590CF8EA0F}" srcOrd="0" destOrd="0" presId="urn:microsoft.com/office/officeart/2005/8/layout/chevron2"/>
    <dgm:cxn modelId="{A97C3C20-4431-4F51-909D-AA6235D30563}" type="presOf" srcId="{4A8DA1B4-0C74-4C1E-8DD6-317B2ABA7125}" destId="{903A4FA2-B7DC-4636-8244-360FE6FB5E6B}" srcOrd="0" destOrd="3" presId="urn:microsoft.com/office/officeart/2005/8/layout/chevron2"/>
    <dgm:cxn modelId="{4215B222-6F00-4723-A980-4606BFC432E4}" srcId="{1061F3DF-03DC-40E4-A01D-8F2728E37CB3}" destId="{F8E30C53-5014-48FC-9FF4-6DC38C46BBC4}" srcOrd="2" destOrd="0" parTransId="{109D1798-0DE2-45E0-84D6-69221F88250B}" sibTransId="{EF8744EA-2B2F-41BF-AAA6-44D2471ECC87}"/>
    <dgm:cxn modelId="{DD4BEF25-5540-4C50-ABB1-6C4C14AFE007}" type="presOf" srcId="{D8FEABDA-1574-48AD-84EE-79E95F94DE11}" destId="{903A4FA2-B7DC-4636-8244-360FE6FB5E6B}" srcOrd="0" destOrd="1" presId="urn:microsoft.com/office/officeart/2005/8/layout/chevron2"/>
    <dgm:cxn modelId="{31587B26-0CB4-4FAE-9E22-139EBDC8CB74}" type="presOf" srcId="{8EBF74E8-985C-4F26-A498-425ADC11E44C}" destId="{903A4FA2-B7DC-4636-8244-360FE6FB5E6B}" srcOrd="0" destOrd="4" presId="urn:microsoft.com/office/officeart/2005/8/layout/chevron2"/>
    <dgm:cxn modelId="{3C50982C-2D45-4799-882C-88B57EB1C9EC}" srcId="{1061F3DF-03DC-40E4-A01D-8F2728E37CB3}" destId="{8E090F9C-2051-4396-B1A7-181AB090EAD7}" srcOrd="0" destOrd="0" parTransId="{97C99A07-1705-4459-8374-4DAC5598795F}" sibTransId="{A5BED5B7-CF5B-4424-AF0E-C0943CA9CDA6}"/>
    <dgm:cxn modelId="{16699F31-F634-4DD4-BBDC-E0FCF7150ABB}" srcId="{F2C04445-73D1-4D13-9EE2-13F1939AB81A}" destId="{B8FCB336-98D5-4D11-95C0-D1530E049477}" srcOrd="2" destOrd="0" parTransId="{D8A6C688-0FC7-4017-ACF9-D7729DD1A10A}" sibTransId="{79B6A4D4-04C9-43BC-875C-DC1906D3A31C}"/>
    <dgm:cxn modelId="{081AD733-3C78-438C-9348-3045C2ABE3F5}" type="presOf" srcId="{F2C04445-73D1-4D13-9EE2-13F1939AB81A}" destId="{14928B99-A44B-4809-A16A-0B8007BEED29}" srcOrd="0" destOrd="0" presId="urn:microsoft.com/office/officeart/2005/8/layout/chevron2"/>
    <dgm:cxn modelId="{7025EA42-DC87-4986-830E-F7BEDA8D9106}" type="presOf" srcId="{8E090F9C-2051-4396-B1A7-181AB090EAD7}" destId="{903A4FA2-B7DC-4636-8244-360FE6FB5E6B}" srcOrd="0" destOrd="0" presId="urn:microsoft.com/office/officeart/2005/8/layout/chevron2"/>
    <dgm:cxn modelId="{CEACBD6B-C876-4CC8-B5FF-0D270DDE6E6C}" type="presOf" srcId="{9719BEC8-D6ED-45DE-899E-072E9026BFD2}" destId="{3685C338-5B74-4834-A852-E0590CF8EA0F}" srcOrd="0" destOrd="3" presId="urn:microsoft.com/office/officeart/2005/8/layout/chevron2"/>
    <dgm:cxn modelId="{F32DBD4D-5ABE-4504-8F00-C0AF659229F9}" srcId="{B8FCB336-98D5-4D11-95C0-D1530E049477}" destId="{1F027D0B-F935-4E6D-A57B-6F485BD896EB}" srcOrd="1" destOrd="0" parTransId="{D6DD3BC5-EFDA-41E5-85CE-D1DF670DD5C2}" sibTransId="{F10C45C2-AEDF-41BF-BD45-07872CFF8893}"/>
    <dgm:cxn modelId="{282DCE8F-4A77-4284-B6AD-BCA6ADB28114}" type="presOf" srcId="{251B1F6D-BEB8-41BF-8723-9A75D407BB45}" destId="{3685C338-5B74-4834-A852-E0590CF8EA0F}" srcOrd="0" destOrd="2" presId="urn:microsoft.com/office/officeart/2005/8/layout/chevron2"/>
    <dgm:cxn modelId="{0000F391-BA4F-44CC-B823-A2A1E764F08B}" type="presOf" srcId="{DF2C8545-500E-4913-96FB-426A9608B7DB}" destId="{6C54D606-F6CD-4F33-8183-F31649C3E889}" srcOrd="0" destOrd="0" presId="urn:microsoft.com/office/officeart/2005/8/layout/chevron2"/>
    <dgm:cxn modelId="{DB97EC93-9198-4709-8582-56B04120B1B6}" srcId="{1061F3DF-03DC-40E4-A01D-8F2728E37CB3}" destId="{8EBF74E8-985C-4F26-A498-425ADC11E44C}" srcOrd="4" destOrd="0" parTransId="{9851565A-839A-4FB6-974F-C412BCE7836E}" sibTransId="{0CF2F22E-95F5-4CCC-B6D4-A09EE8C3857C}"/>
    <dgm:cxn modelId="{03EF869A-7775-4556-A30E-DDE930DFF9D1}" srcId="{F2C04445-73D1-4D13-9EE2-13F1939AB81A}" destId="{1061F3DF-03DC-40E4-A01D-8F2728E37CB3}" srcOrd="0" destOrd="0" parTransId="{249A594F-B14C-4F32-9EBD-0A2BF5C8477F}" sibTransId="{04768715-570F-479D-A07F-77212E454D91}"/>
    <dgm:cxn modelId="{2D18779B-8883-4E3A-9BAE-330F0C6053B6}" type="presOf" srcId="{1061F3DF-03DC-40E4-A01D-8F2728E37CB3}" destId="{13C2DD31-E951-4757-81BF-182D760AB5CE}" srcOrd="0" destOrd="0" presId="urn:microsoft.com/office/officeart/2005/8/layout/chevron2"/>
    <dgm:cxn modelId="{AEC6AAAC-6C02-40D1-8435-76E9FA72EC68}" type="presOf" srcId="{F8E30C53-5014-48FC-9FF4-6DC38C46BBC4}" destId="{903A4FA2-B7DC-4636-8244-360FE6FB5E6B}" srcOrd="0" destOrd="2" presId="urn:microsoft.com/office/officeart/2005/8/layout/chevron2"/>
    <dgm:cxn modelId="{8972CDAF-E791-4EAB-AF3C-0C678ED0A851}" srcId="{1061F3DF-03DC-40E4-A01D-8F2728E37CB3}" destId="{4A8DA1B4-0C74-4C1E-8DD6-317B2ABA7125}" srcOrd="3" destOrd="0" parTransId="{EF990750-D2C5-43DD-A516-BD640E0423B0}" sibTransId="{BF1648CF-8E99-4CE5-80FA-C0C25A9F8E27}"/>
    <dgm:cxn modelId="{3213C9C0-5000-4C82-961B-2EDA5B633BE6}" type="presOf" srcId="{B8FCB336-98D5-4D11-95C0-D1530E049477}" destId="{9EFEA93E-524D-4217-A3C0-47EFAEA32DAE}" srcOrd="0" destOrd="0" presId="urn:microsoft.com/office/officeart/2005/8/layout/chevron2"/>
    <dgm:cxn modelId="{89A136D4-9386-4289-8F88-535D9F7ED3A8}" srcId="{1061F3DF-03DC-40E4-A01D-8F2728E37CB3}" destId="{D8FEABDA-1574-48AD-84EE-79E95F94DE11}" srcOrd="1" destOrd="0" parTransId="{8855494B-21C7-43E2-B237-1788B10B0065}" sibTransId="{6BB4B2C1-3575-4FEF-8DAB-939D73708EB3}"/>
    <dgm:cxn modelId="{FDC7F5EC-A961-4CB1-B62C-57ACD54B5902}" type="presOf" srcId="{2DDD853F-5011-4D29-9D32-3527BA1E9A20}" destId="{3685C338-5B74-4834-A852-E0590CF8EA0F}" srcOrd="0" destOrd="1" presId="urn:microsoft.com/office/officeart/2005/8/layout/chevron2"/>
    <dgm:cxn modelId="{D1BD39F6-8BF5-4778-9A2F-20EC6A03BF09}" srcId="{70B563EC-3486-459D-ACB9-4635E3B1471F}" destId="{251B1F6D-BEB8-41BF-8723-9A75D407BB45}" srcOrd="2" destOrd="0" parTransId="{836637BA-BBCF-4BFF-A78F-C17FA85EE28E}" sibTransId="{14EF2F82-01AF-4BE2-A39D-E9577DAC7A0B}"/>
    <dgm:cxn modelId="{BDFC4AFB-A895-4B13-8FC7-B08E5E23C8F9}" srcId="{70B563EC-3486-459D-ACB9-4635E3B1471F}" destId="{890B0ADC-B46D-408C-8755-D533F875417E}" srcOrd="0" destOrd="0" parTransId="{EF6216F3-C202-436C-8E07-ABD451306759}" sibTransId="{FAA79B54-B6A1-4F55-946B-BFECD4EAB0CA}"/>
    <dgm:cxn modelId="{AC78D63E-5D2E-4DD7-B01E-13D41CAEB964}" type="presParOf" srcId="{14928B99-A44B-4809-A16A-0B8007BEED29}" destId="{7411A233-89EC-4C43-A08A-6F2BE5AE11F2}" srcOrd="0" destOrd="0" presId="urn:microsoft.com/office/officeart/2005/8/layout/chevron2"/>
    <dgm:cxn modelId="{B703A71C-536F-4199-AAF4-23A619D49C6E}" type="presParOf" srcId="{7411A233-89EC-4C43-A08A-6F2BE5AE11F2}" destId="{13C2DD31-E951-4757-81BF-182D760AB5CE}" srcOrd="0" destOrd="0" presId="urn:microsoft.com/office/officeart/2005/8/layout/chevron2"/>
    <dgm:cxn modelId="{454064AE-4EF2-414B-9C54-09835F6C7222}" type="presParOf" srcId="{7411A233-89EC-4C43-A08A-6F2BE5AE11F2}" destId="{903A4FA2-B7DC-4636-8244-360FE6FB5E6B}" srcOrd="1" destOrd="0" presId="urn:microsoft.com/office/officeart/2005/8/layout/chevron2"/>
    <dgm:cxn modelId="{851EAA5A-BC13-4D74-BA1F-E091DA591423}" type="presParOf" srcId="{14928B99-A44B-4809-A16A-0B8007BEED29}" destId="{982375DE-7A0D-4260-B7EC-5E95C46D535C}" srcOrd="1" destOrd="0" presId="urn:microsoft.com/office/officeart/2005/8/layout/chevron2"/>
    <dgm:cxn modelId="{09711780-822E-4456-A711-0BBE6EC992CF}" type="presParOf" srcId="{14928B99-A44B-4809-A16A-0B8007BEED29}" destId="{C3D85613-3155-41B4-9269-E188F1FD0BCA}" srcOrd="2" destOrd="0" presId="urn:microsoft.com/office/officeart/2005/8/layout/chevron2"/>
    <dgm:cxn modelId="{34D409F5-1DEE-459B-A565-911E76DAF662}" type="presParOf" srcId="{C3D85613-3155-41B4-9269-E188F1FD0BCA}" destId="{2879A1AB-81A3-48A5-B712-FFDCA74BF7F2}" srcOrd="0" destOrd="0" presId="urn:microsoft.com/office/officeart/2005/8/layout/chevron2"/>
    <dgm:cxn modelId="{2B388D1D-DE0E-4501-803D-11B61563170B}" type="presParOf" srcId="{C3D85613-3155-41B4-9269-E188F1FD0BCA}" destId="{3685C338-5B74-4834-A852-E0590CF8EA0F}" srcOrd="1" destOrd="0" presId="urn:microsoft.com/office/officeart/2005/8/layout/chevron2"/>
    <dgm:cxn modelId="{6527A1A1-1EA5-40F7-AC44-75C6211D54CD}" type="presParOf" srcId="{14928B99-A44B-4809-A16A-0B8007BEED29}" destId="{46449D92-C327-4667-A223-DFE644155D87}" srcOrd="3" destOrd="0" presId="urn:microsoft.com/office/officeart/2005/8/layout/chevron2"/>
    <dgm:cxn modelId="{8CE76FB8-E665-4D13-96FC-2A88E16A2232}" type="presParOf" srcId="{14928B99-A44B-4809-A16A-0B8007BEED29}" destId="{FB086E77-0313-44F8-A94A-6E215C90E183}" srcOrd="4" destOrd="0" presId="urn:microsoft.com/office/officeart/2005/8/layout/chevron2"/>
    <dgm:cxn modelId="{3EE0581A-747F-4077-9E66-F9441C1C55EC}" type="presParOf" srcId="{FB086E77-0313-44F8-A94A-6E215C90E183}" destId="{9EFEA93E-524D-4217-A3C0-47EFAEA32DAE}" srcOrd="0" destOrd="0" presId="urn:microsoft.com/office/officeart/2005/8/layout/chevron2"/>
    <dgm:cxn modelId="{6E8E5D22-60AC-4376-A1C2-B4B7CF8AD419}" type="presParOf" srcId="{FB086E77-0313-44F8-A94A-6E215C90E183}" destId="{6C54D606-F6CD-4F33-8183-F31649C3E88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C2DD31-E951-4757-81BF-182D760AB5CE}">
      <dsp:nvSpPr>
        <dsp:cNvPr id="0" name=""/>
        <dsp:cNvSpPr/>
      </dsp:nvSpPr>
      <dsp:spPr>
        <a:xfrm rot="5400000">
          <a:off x="-262770" y="264867"/>
          <a:ext cx="1751806" cy="122626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Entities</a:t>
          </a:r>
        </a:p>
      </dsp:txBody>
      <dsp:txXfrm rot="-5400000">
        <a:off x="1" y="615228"/>
        <a:ext cx="1226264" cy="525542"/>
      </dsp:txXfrm>
    </dsp:sp>
    <dsp:sp modelId="{903A4FA2-B7DC-4636-8244-360FE6FB5E6B}">
      <dsp:nvSpPr>
        <dsp:cNvPr id="0" name=""/>
        <dsp:cNvSpPr/>
      </dsp:nvSpPr>
      <dsp:spPr>
        <a:xfrm rot="5400000">
          <a:off x="2329794" y="-1101433"/>
          <a:ext cx="1138674" cy="334573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Artwork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Clients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Artist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Events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Inventory</a:t>
          </a:r>
        </a:p>
      </dsp:txBody>
      <dsp:txXfrm rot="-5400000">
        <a:off x="1226265" y="57681"/>
        <a:ext cx="3290149" cy="1027504"/>
      </dsp:txXfrm>
    </dsp:sp>
    <dsp:sp modelId="{2879A1AB-81A3-48A5-B712-FFDCA74BF7F2}">
      <dsp:nvSpPr>
        <dsp:cNvPr id="0" name=""/>
        <dsp:cNvSpPr/>
      </dsp:nvSpPr>
      <dsp:spPr>
        <a:xfrm rot="5400000">
          <a:off x="-262770" y="1824163"/>
          <a:ext cx="1751806" cy="122626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Process</a:t>
          </a:r>
        </a:p>
      </dsp:txBody>
      <dsp:txXfrm rot="-5400000">
        <a:off x="1" y="2174524"/>
        <a:ext cx="1226264" cy="525542"/>
      </dsp:txXfrm>
    </dsp:sp>
    <dsp:sp modelId="{3685C338-5B74-4834-A852-E0590CF8EA0F}">
      <dsp:nvSpPr>
        <dsp:cNvPr id="0" name=""/>
        <dsp:cNvSpPr/>
      </dsp:nvSpPr>
      <dsp:spPr>
        <a:xfrm rot="5400000">
          <a:off x="2329794" y="457862"/>
          <a:ext cx="1138674" cy="334573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Add knew artist to the system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Add artwork to the system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Book event  for introduction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Selling of artwork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Upkeep of system</a:t>
          </a:r>
        </a:p>
      </dsp:txBody>
      <dsp:txXfrm rot="-5400000">
        <a:off x="1226265" y="1616977"/>
        <a:ext cx="3290149" cy="1027504"/>
      </dsp:txXfrm>
    </dsp:sp>
    <dsp:sp modelId="{9EFEA93E-524D-4217-A3C0-47EFAEA32DAE}">
      <dsp:nvSpPr>
        <dsp:cNvPr id="0" name=""/>
        <dsp:cNvSpPr/>
      </dsp:nvSpPr>
      <dsp:spPr>
        <a:xfrm rot="5400000">
          <a:off x="-262770" y="3383460"/>
          <a:ext cx="1751806" cy="122626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Reporting</a:t>
          </a:r>
        </a:p>
      </dsp:txBody>
      <dsp:txXfrm rot="-5400000">
        <a:off x="1" y="3733821"/>
        <a:ext cx="1226264" cy="525542"/>
      </dsp:txXfrm>
    </dsp:sp>
    <dsp:sp modelId="{6C54D606-F6CD-4F33-8183-F31649C3E889}">
      <dsp:nvSpPr>
        <dsp:cNvPr id="0" name=""/>
        <dsp:cNvSpPr/>
      </dsp:nvSpPr>
      <dsp:spPr>
        <a:xfrm rot="5400000">
          <a:off x="2329794" y="2017159"/>
          <a:ext cx="1138674" cy="334573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Sales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Comission</a:t>
          </a:r>
        </a:p>
      </dsp:txBody>
      <dsp:txXfrm rot="-5400000">
        <a:off x="1226265" y="3176274"/>
        <a:ext cx="3290149" cy="1027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ZA" sz="4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Proposal for the Gallery information system development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ZA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Tel Aviv Museum of arts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417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6" y="1320478"/>
            <a:ext cx="9603275" cy="1049235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of content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51575" y="1845095"/>
            <a:ext cx="9603275" cy="357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9400" algn="l"/>
                <a:tab pos="66389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+mj-lt"/>
              <a:buAutoNum type="arabicPeriod"/>
            </a:pPr>
            <a:r>
              <a:rPr lang="en-ZA" sz="1600" b="1" dirty="0"/>
              <a:t>Definition of scope</a:t>
            </a:r>
          </a:p>
          <a:p>
            <a:pPr lvl="1">
              <a:buFont typeface="+mj-lt"/>
              <a:buAutoNum type="alphaUcPeriod"/>
            </a:pPr>
            <a:r>
              <a:rPr lang="en-ZA" sz="1050" dirty="0"/>
              <a:t>Problem statement</a:t>
            </a:r>
          </a:p>
          <a:p>
            <a:pPr lvl="1">
              <a:buFont typeface="+mj-lt"/>
              <a:buAutoNum type="alphaUcPeriod"/>
            </a:pPr>
            <a:r>
              <a:rPr lang="en-ZA" sz="1050" dirty="0"/>
              <a:t>Constraints</a:t>
            </a:r>
          </a:p>
          <a:p>
            <a:pPr lvl="1">
              <a:buFont typeface="+mj-lt"/>
              <a:buAutoNum type="alphaUcPeriod"/>
            </a:pPr>
            <a:r>
              <a:rPr lang="en-ZA" sz="1100" dirty="0"/>
              <a:t>Scope creep</a:t>
            </a:r>
          </a:p>
          <a:p>
            <a:pPr lvl="1">
              <a:buFont typeface="+mj-lt"/>
              <a:buAutoNum type="alphaUcPeriod"/>
            </a:pPr>
            <a:r>
              <a:rPr lang="en-ZA" sz="1100" dirty="0"/>
              <a:t>Business functions</a:t>
            </a:r>
            <a:endParaRPr lang="en-ZA" sz="1100" cap="small" dirty="0"/>
          </a:p>
          <a:p>
            <a:pPr>
              <a:buFont typeface="+mj-lt"/>
              <a:buAutoNum type="arabicPeriod"/>
            </a:pPr>
            <a:r>
              <a:rPr lang="en-ZA" sz="1600" b="1" dirty="0"/>
              <a:t>Goals </a:t>
            </a:r>
          </a:p>
          <a:p>
            <a:pPr lvl="0">
              <a:buFont typeface="+mj-lt"/>
              <a:buAutoNum type="arabicPeriod"/>
            </a:pPr>
            <a:r>
              <a:rPr lang="en-ZA" sz="1600" b="1" dirty="0"/>
              <a:t>Schedule of Project</a:t>
            </a:r>
          </a:p>
          <a:p>
            <a:pPr lvl="0">
              <a:buFont typeface="+mj-lt"/>
              <a:buAutoNum type="arabicPeriod"/>
            </a:pPr>
            <a:r>
              <a:rPr lang="en-ZA" sz="1600" b="1" dirty="0"/>
              <a:t>Budget </a:t>
            </a:r>
          </a:p>
          <a:p>
            <a:pPr lvl="0">
              <a:buFont typeface="+mj-lt"/>
              <a:buAutoNum type="arabicPeriod"/>
            </a:pPr>
            <a:r>
              <a:rPr lang="en-ZA" sz="1600" b="1" dirty="0"/>
              <a:t>Proposed solution</a:t>
            </a:r>
          </a:p>
          <a:p>
            <a:pPr lvl="1">
              <a:buFont typeface="+mj-lt"/>
              <a:buAutoNum type="alphaUcPeriod"/>
            </a:pPr>
            <a:r>
              <a:rPr lang="en-ZA" sz="1050" dirty="0"/>
              <a:t>Business requirements</a:t>
            </a:r>
          </a:p>
          <a:p>
            <a:pPr lvl="1">
              <a:buFont typeface="+mj-lt"/>
              <a:buAutoNum type="alphaUcPeriod"/>
            </a:pPr>
            <a:r>
              <a:rPr lang="en-ZA" sz="1050" dirty="0"/>
              <a:t>Existing problems</a:t>
            </a:r>
          </a:p>
          <a:p>
            <a:pPr lvl="1">
              <a:buFont typeface="+mj-lt"/>
              <a:buAutoNum type="alphaUcPeriod"/>
            </a:pPr>
            <a:r>
              <a:rPr lang="en-ZA" sz="1050" dirty="0"/>
              <a:t>User requirements</a:t>
            </a:r>
          </a:p>
          <a:p>
            <a:pPr lvl="1">
              <a:buFont typeface="+mj-lt"/>
              <a:buAutoNum type="alphaUcPeriod"/>
            </a:pPr>
            <a:r>
              <a:rPr lang="en-ZA" sz="1100" dirty="0"/>
              <a:t>Opportunity to improve</a:t>
            </a:r>
          </a:p>
          <a:p>
            <a:pPr lvl="1">
              <a:buFont typeface="+mj-lt"/>
              <a:buAutoNum type="alphaUcPeriod"/>
            </a:pPr>
            <a:r>
              <a:rPr lang="en-ZA" sz="1100" dirty="0"/>
              <a:t>Risks/ Uncertainties</a:t>
            </a:r>
            <a:endParaRPr lang="en-ZA" sz="1600" dirty="0"/>
          </a:p>
          <a:p>
            <a:endParaRPr lang="en-ZA" sz="1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410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7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7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7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7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7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75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75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75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75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954644"/>
            <a:ext cx="9603275" cy="942394"/>
          </a:xfrm>
        </p:spPr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ZA" sz="32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1.DEFINITION OF SCOPE</a:t>
            </a:r>
            <a:br>
              <a:rPr lang="en-ZA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ZA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A. PROBLEM STATEMENT</a:t>
            </a:r>
            <a:endParaRPr lang="en-ZA" sz="24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The previous information system does not satisfy the system user requirements anymore; therefore a new  improved system needs to be implemented. In order to satisfy the system user’s requirements the newly implemented system needs to facilitate better productivity and improve system performance.</a:t>
            </a:r>
            <a:endParaRPr lang="en-ZA" dirty="0"/>
          </a:p>
          <a:p>
            <a:r>
              <a:rPr lang="en-GB" dirty="0"/>
              <a:t>The information system will provide: </a:t>
            </a:r>
            <a:endParaRPr lang="en-ZA" dirty="0"/>
          </a:p>
          <a:p>
            <a:pPr lvl="0"/>
            <a:r>
              <a:rPr lang="en-GB" dirty="0"/>
              <a:t>A database containing detailed information about the art work.</a:t>
            </a:r>
            <a:endParaRPr lang="en-ZA" dirty="0"/>
          </a:p>
          <a:p>
            <a:pPr lvl="0"/>
            <a:r>
              <a:rPr lang="en-GB" dirty="0"/>
              <a:t>The database will contain items that are for sale and items that are not for sale.</a:t>
            </a:r>
            <a:endParaRPr lang="en-ZA" dirty="0"/>
          </a:p>
          <a:p>
            <a:pPr lvl="0"/>
            <a:r>
              <a:rPr lang="en-GB" dirty="0"/>
              <a:t>System will provide an interface that will allow the user to Add, update and delete information.</a:t>
            </a:r>
            <a:endParaRPr lang="en-ZA" dirty="0"/>
          </a:p>
          <a:p>
            <a:pPr lvl="0"/>
            <a:r>
              <a:rPr lang="en-GB" dirty="0"/>
              <a:t>Program will support the different management functions listed below.</a:t>
            </a:r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6096"/>
            <a:ext cx="9603275" cy="3651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cap="all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B. Constraints</a:t>
            </a:r>
          </a:p>
          <a:p>
            <a:pPr marL="0" indent="0">
              <a:buNone/>
            </a:pPr>
            <a:r>
              <a:rPr lang="en-GB" dirty="0"/>
              <a:t>Possible constraints for the execution and implementation of a new system. The primary constrain may  include need for funds, or colour template used in the graphical user interface. Some other constraints include: Employees’ fear of changing information systems, therefore resisting learning new information system.</a:t>
            </a:r>
            <a:r>
              <a:rPr lang="en-AU" dirty="0"/>
              <a:t> </a:t>
            </a:r>
            <a:endParaRPr lang="en-ZA" dirty="0"/>
          </a:p>
          <a:p>
            <a:pPr marL="0" indent="0">
              <a:buNone/>
            </a:pPr>
            <a:r>
              <a:rPr lang="en-ZA" sz="2400" b="1" cap="all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C. Scope creep</a:t>
            </a:r>
          </a:p>
          <a:p>
            <a:pPr marL="0" indent="0">
              <a:buNone/>
            </a:pPr>
            <a:r>
              <a:rPr lang="en-GB" dirty="0"/>
              <a:t>A general manager and systems analyst will be overseeing the entirety of the system to ensure that the requirements should not overrun the proposed budget.</a:t>
            </a:r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36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7" y="1213952"/>
            <a:ext cx="9603275" cy="1049235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ZA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D. BUSINESS FUNCTIONS</a:t>
            </a:r>
            <a:br>
              <a:rPr lang="en-Z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ZA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8" y="1892902"/>
            <a:ext cx="9603275" cy="42485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ZA" b="1" dirty="0"/>
              <a:t>Commercial manager </a:t>
            </a:r>
            <a:endParaRPr lang="en-ZA" dirty="0"/>
          </a:p>
          <a:p>
            <a:r>
              <a:rPr lang="en-GB" dirty="0"/>
              <a:t>A Commercial manager is a manager that is responsible for the selecting and sales of artwork and for the day-to-day activities.</a:t>
            </a:r>
          </a:p>
          <a:p>
            <a:pPr marL="0" indent="0">
              <a:buNone/>
            </a:pPr>
            <a:r>
              <a:rPr lang="en-ZA" b="1" dirty="0"/>
              <a:t>Purchasing management</a:t>
            </a:r>
            <a:endParaRPr lang="en-ZA" dirty="0"/>
          </a:p>
          <a:p>
            <a:r>
              <a:rPr lang="en-GB" dirty="0"/>
              <a:t>Purchasing manager is responsible for buying artwork. </a:t>
            </a:r>
          </a:p>
          <a:p>
            <a:pPr marL="0" indent="0">
              <a:buNone/>
            </a:pPr>
            <a:r>
              <a:rPr lang="en-ZA" b="1" dirty="0"/>
              <a:t>Logistics management </a:t>
            </a:r>
            <a:endParaRPr lang="en-ZA" dirty="0"/>
          </a:p>
          <a:p>
            <a:r>
              <a:rPr lang="en-GB" dirty="0"/>
              <a:t>Logistics is the management of the movement of goods between point of origin to the point of sale.</a:t>
            </a:r>
          </a:p>
          <a:p>
            <a:pPr marL="0" indent="0">
              <a:buNone/>
            </a:pPr>
            <a:r>
              <a:rPr lang="en-ZA" b="1" dirty="0"/>
              <a:t>Human Resource management</a:t>
            </a:r>
            <a:r>
              <a:rPr lang="en-ZA" dirty="0"/>
              <a:t> </a:t>
            </a:r>
          </a:p>
          <a:p>
            <a:r>
              <a:rPr lang="en-GB" dirty="0"/>
              <a:t>Human Resource management focus on activities concerning the employees.</a:t>
            </a:r>
          </a:p>
          <a:p>
            <a:pPr marL="0" indent="0">
              <a:buNone/>
            </a:pPr>
            <a:r>
              <a:rPr lang="en-ZA" b="1" dirty="0"/>
              <a:t>Financial management</a:t>
            </a:r>
            <a:endParaRPr lang="en-ZA" dirty="0"/>
          </a:p>
          <a:p>
            <a:r>
              <a:rPr lang="en-GB" dirty="0"/>
              <a:t>Financial management is concerned with planning and managing the business’s funds in order to achieve the business’s objective.</a:t>
            </a:r>
            <a:endParaRPr lang="en-ZA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445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241249"/>
            <a:ext cx="9603275" cy="601200"/>
          </a:xfrm>
        </p:spPr>
        <p:txBody>
          <a:bodyPr>
            <a:normAutofit fontScale="90000"/>
          </a:bodyPr>
          <a:lstStyle/>
          <a:p>
            <a:pPr lvl="0"/>
            <a:r>
              <a:rPr lang="en-ZA" sz="3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Goals 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8" y="1842449"/>
            <a:ext cx="9603275" cy="3450613"/>
          </a:xfrm>
        </p:spPr>
        <p:txBody>
          <a:bodyPr/>
          <a:lstStyle/>
          <a:p>
            <a:pPr lvl="0"/>
            <a:r>
              <a:rPr lang="en-GB" dirty="0"/>
              <a:t>Simplify the user’s tasks.</a:t>
            </a:r>
            <a:endParaRPr lang="en-ZA" dirty="0"/>
          </a:p>
          <a:p>
            <a:pPr lvl="0"/>
            <a:r>
              <a:rPr lang="en-GB" dirty="0"/>
              <a:t>Provide security, integrity, confidentiality, and privacy.</a:t>
            </a:r>
            <a:endParaRPr lang="en-ZA" dirty="0"/>
          </a:p>
          <a:p>
            <a:pPr lvl="0"/>
            <a:r>
              <a:rPr lang="en-GB" dirty="0"/>
              <a:t>Improve communication and collaboration.</a:t>
            </a:r>
            <a:endParaRPr lang="en-ZA" dirty="0"/>
          </a:p>
          <a:p>
            <a:pPr lvl="0"/>
            <a:r>
              <a:rPr lang="en-GB" dirty="0"/>
              <a:t>Improve the processes and processing time.</a:t>
            </a:r>
            <a:endParaRPr lang="en-ZA" dirty="0"/>
          </a:p>
          <a:p>
            <a:pPr lvl="0"/>
            <a:r>
              <a:rPr lang="en-GB" dirty="0"/>
              <a:t>Provide a friendly and understandable graphical users interface.</a:t>
            </a:r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946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60" y="532262"/>
            <a:ext cx="9603275" cy="720990"/>
          </a:xfrm>
        </p:spPr>
        <p:txBody>
          <a:bodyPr>
            <a:normAutofit fontScale="90000"/>
          </a:bodyPr>
          <a:lstStyle/>
          <a:p>
            <a:pPr lvl="0"/>
            <a:r>
              <a:rPr lang="en-ZA" sz="3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Schedule of Project</a:t>
            </a:r>
            <a:br>
              <a:rPr lang="en-ZA" b="1" dirty="0"/>
            </a:br>
            <a:endParaRPr lang="en-ZA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0911163"/>
              </p:ext>
            </p:extLst>
          </p:nvPr>
        </p:nvGraphicFramePr>
        <p:xfrm>
          <a:off x="559560" y="1075833"/>
          <a:ext cx="11041038" cy="50619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63">
                  <a:extLst>
                    <a:ext uri="{9D8B030D-6E8A-4147-A177-3AD203B41FA5}">
                      <a16:colId xmlns:a16="http://schemas.microsoft.com/office/drawing/2014/main" val="899141496"/>
                    </a:ext>
                  </a:extLst>
                </a:gridCol>
                <a:gridCol w="6347843">
                  <a:extLst>
                    <a:ext uri="{9D8B030D-6E8A-4147-A177-3AD203B41FA5}">
                      <a16:colId xmlns:a16="http://schemas.microsoft.com/office/drawing/2014/main" val="444392177"/>
                    </a:ext>
                  </a:extLst>
                </a:gridCol>
                <a:gridCol w="2183632">
                  <a:extLst>
                    <a:ext uri="{9D8B030D-6E8A-4147-A177-3AD203B41FA5}">
                      <a16:colId xmlns:a16="http://schemas.microsoft.com/office/drawing/2014/main" val="1951957578"/>
                    </a:ext>
                  </a:extLst>
                </a:gridCol>
              </a:tblGrid>
              <a:tr h="24198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Project Steps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Steps Implemented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Proposed date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4944539"/>
                  </a:ext>
                </a:extLst>
              </a:tr>
              <a:tr h="242078">
                <a:tc>
                  <a:txBody>
                    <a:bodyPr/>
                    <a:lstStyle/>
                    <a:p>
                      <a:pPr marL="342900" lvl="0" indent="-342900" algn="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Scope definition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dirty="0">
                          <a:effectLst/>
                        </a:rPr>
                        <a:t>Scope definition documented in the project proposal.</a:t>
                      </a:r>
                      <a:endParaRPr lang="en-ZA" sz="14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25-02-2018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91433818"/>
                  </a:ext>
                </a:extLst>
              </a:tr>
              <a:tr h="768171">
                <a:tc>
                  <a:txBody>
                    <a:bodyPr/>
                    <a:lstStyle/>
                    <a:p>
                      <a:pPr marL="342900" lvl="0" indent="-342900" algn="r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Problem analysis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The project proposal with the existing problems, proposed solutions to the problems, business opportunities, risks, schedule of events and the economic justification.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25-02-2018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34968504"/>
                  </a:ext>
                </a:extLst>
              </a:tr>
              <a:tr h="485016">
                <a:tc>
                  <a:txBody>
                    <a:bodyPr/>
                    <a:lstStyle/>
                    <a:p>
                      <a:pPr marL="342900" lvl="0" indent="-342900" algn="r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Requirements analysis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Business requirement statements.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28-03-2018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75023228"/>
                  </a:ext>
                </a:extLst>
              </a:tr>
              <a:tr h="242078">
                <a:tc>
                  <a:txBody>
                    <a:bodyPr/>
                    <a:lstStyle/>
                    <a:p>
                      <a:pPr marL="342900" lvl="0" indent="-342900" algn="r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Logical design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Specifications and the logical design’s system modules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28-03-2018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2970004"/>
                  </a:ext>
                </a:extLst>
              </a:tr>
              <a:tr h="1031217">
                <a:tc>
                  <a:txBody>
                    <a:bodyPr/>
                    <a:lstStyle/>
                    <a:p>
                      <a:pPr marL="342900" lvl="0" indent="-342900" algn="r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Decision analysis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dirty="0">
                          <a:effectLst/>
                        </a:rPr>
                        <a:t>Documentation evaluating each solution in terms of the technical, operational, scheduling, and risk-feasibilities. The best solution will be discussed and chosen. Project will be continued or ended based on decision by all parties.</a:t>
                      </a:r>
                      <a:endParaRPr lang="en-ZA" sz="14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28-03-2018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2722709"/>
                  </a:ext>
                </a:extLst>
              </a:tr>
              <a:tr h="505125">
                <a:tc>
                  <a:txBody>
                    <a:bodyPr/>
                    <a:lstStyle/>
                    <a:p>
                      <a:pPr marL="342900" lvl="0" indent="-342900" algn="r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Physical design &amp; integration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Detailed specifications, prototypes, Redesigned business process will be set up. Also, the physical design modules will be executed.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20-04-2018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15059180"/>
                  </a:ext>
                </a:extLst>
              </a:tr>
              <a:tr h="768171">
                <a:tc>
                  <a:txBody>
                    <a:bodyPr/>
                    <a:lstStyle/>
                    <a:p>
                      <a:pPr marL="342900" lvl="0" indent="-342900" algn="r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Construction &amp; testing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Database construction. Database testing &amp; integration. Custom-built software where purchased software is lacking. User interfaces and test plan executed.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20-04-2018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723471"/>
                  </a:ext>
                </a:extLst>
              </a:tr>
              <a:tr h="768171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400">
                          <a:effectLst/>
                        </a:rPr>
                        <a:t>Installation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>
                          <a:effectLst/>
                        </a:rPr>
                        <a:t>Operation manual set up. Operating system integration, detailed quality review and updated logical system modules constructed. Presentation of the implemented system.</a:t>
                      </a:r>
                      <a:endParaRPr lang="en-ZA" sz="140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ZA" sz="1400" dirty="0">
                          <a:effectLst/>
                        </a:rPr>
                        <a:t>14-05-2018</a:t>
                      </a:r>
                      <a:endParaRPr lang="en-ZA" sz="1400" dirty="0"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24226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6426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1269242"/>
            <a:ext cx="9607661" cy="591240"/>
          </a:xfrm>
        </p:spPr>
        <p:txBody>
          <a:bodyPr>
            <a:normAutofit/>
          </a:bodyPr>
          <a:lstStyle/>
          <a:p>
            <a:r>
              <a:rPr lang="en-ZA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Budget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1870533"/>
            <a:ext cx="4645152" cy="42300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ZA" u="sng" dirty="0"/>
              <a:t>Internal cost </a:t>
            </a:r>
            <a:endParaRPr lang="en-ZA" dirty="0"/>
          </a:p>
          <a:p>
            <a:r>
              <a:rPr lang="en-ZA" dirty="0"/>
              <a:t>= 15% of 1 person working 9 hours a day for 6 days a week for 5 months @ R 35/hour</a:t>
            </a:r>
          </a:p>
          <a:p>
            <a:r>
              <a:rPr lang="en-ZA" dirty="0"/>
              <a:t>= 15% x (1person x 9 hours x 6days x 4 x 5 x 35)</a:t>
            </a:r>
          </a:p>
          <a:p>
            <a:r>
              <a:rPr lang="en-ZA" dirty="0"/>
              <a:t>= R 5 670</a:t>
            </a:r>
          </a:p>
          <a:p>
            <a:pPr marL="0" indent="0">
              <a:buNone/>
            </a:pPr>
            <a:r>
              <a:rPr lang="en-ZA" u="sng" dirty="0"/>
              <a:t>Consultant Cost</a:t>
            </a:r>
            <a:endParaRPr lang="en-ZA" dirty="0"/>
          </a:p>
          <a:p>
            <a:r>
              <a:rPr lang="en-ZA" dirty="0"/>
              <a:t> = 15% of 3 people working 7 hours a day for 5 months @ R113 /    hour</a:t>
            </a:r>
          </a:p>
          <a:p>
            <a:r>
              <a:rPr lang="en-ZA" dirty="0"/>
              <a:t> = 15% x (3 person’s x 7 hours’ x 6 days a week x 4 x 5 months’ x 113)</a:t>
            </a:r>
          </a:p>
          <a:p>
            <a:r>
              <a:rPr lang="en-ZA" dirty="0"/>
              <a:t> = R 42 714</a:t>
            </a:r>
          </a:p>
          <a:p>
            <a:endParaRPr lang="en-ZA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1021" y="1870534"/>
            <a:ext cx="4645152" cy="330635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ZA" b="1" dirty="0"/>
              <a:t>HARDWARE: </a:t>
            </a:r>
            <a:endParaRPr lang="en-ZA" dirty="0"/>
          </a:p>
          <a:p>
            <a:pPr marL="0" indent="0">
              <a:buNone/>
            </a:pPr>
            <a:r>
              <a:rPr lang="en-ZA" u="sng" dirty="0"/>
              <a:t>Desktop Computer</a:t>
            </a:r>
            <a:endParaRPr lang="en-ZA" dirty="0"/>
          </a:p>
          <a:p>
            <a:r>
              <a:rPr lang="en-ZA" dirty="0"/>
              <a:t>Dell Inspiron 3668 Desktop computer	R7 865</a:t>
            </a:r>
          </a:p>
          <a:p>
            <a:r>
              <a:rPr lang="en-ZA" dirty="0"/>
              <a:t>(Mouse and keyboard is included)</a:t>
            </a:r>
          </a:p>
          <a:p>
            <a:r>
              <a:rPr lang="en-ZA" dirty="0"/>
              <a:t>Dell S2715H 27” LED Full monitor	R4 845</a:t>
            </a:r>
          </a:p>
          <a:p>
            <a:pPr marL="0" indent="0">
              <a:buNone/>
            </a:pPr>
            <a:r>
              <a:rPr lang="en-ZA" b="1" dirty="0"/>
              <a:t>Total Cost</a:t>
            </a:r>
            <a:endParaRPr lang="en-ZA" dirty="0"/>
          </a:p>
          <a:p>
            <a:r>
              <a:rPr lang="en-ZA" dirty="0"/>
              <a:t>R 5 670 +R 42 714+ R 4 845+ R 7 865</a:t>
            </a:r>
          </a:p>
          <a:p>
            <a:r>
              <a:rPr lang="en-ZA" dirty="0"/>
              <a:t>= R 61 094</a:t>
            </a:r>
          </a:p>
          <a:p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292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255594"/>
            <a:ext cx="9603275" cy="598160"/>
          </a:xfrm>
        </p:spPr>
        <p:txBody>
          <a:bodyPr>
            <a:normAutofit fontScale="90000"/>
          </a:bodyPr>
          <a:lstStyle/>
          <a:p>
            <a:pPr lvl="0"/>
            <a:r>
              <a:rPr lang="en-ZA" sz="31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Proposed solution</a:t>
            </a:r>
            <a:br>
              <a:rPr lang="en-ZA" b="1" dirty="0"/>
            </a:br>
            <a:endParaRPr lang="en-Z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51579" y="1853754"/>
            <a:ext cx="4799096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 BUSINESS REQUIREMENTS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b="1" dirty="0"/>
          </a:p>
          <a:p>
            <a:endParaRPr lang="en-ZA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143050"/>
              </p:ext>
            </p:extLst>
          </p:nvPr>
        </p:nvGraphicFramePr>
        <p:xfrm>
          <a:off x="6366765" y="1853754"/>
          <a:ext cx="4571999" cy="4874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402391" y="2451914"/>
            <a:ext cx="4848284" cy="1156889"/>
            <a:chOff x="1402391" y="2451914"/>
            <a:chExt cx="4848284" cy="1156889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4120754" y="2451914"/>
              <a:ext cx="2129921" cy="802947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402391" y="2931695"/>
              <a:ext cx="2718363" cy="67710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000" dirty="0">
                  <a:solidFill>
                    <a:schemeClr val="bg1"/>
                  </a:solidFill>
                </a:rPr>
                <a:t>Maintenance of Gallery</a:t>
              </a:r>
            </a:p>
            <a:p>
              <a:pPr algn="ctr"/>
              <a:endParaRPr lang="en-ZA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0314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337481"/>
            <a:ext cx="9603275" cy="516273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ZA" sz="27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 EXISTING PROBLEMS</a:t>
            </a:r>
            <a:br>
              <a:rPr lang="en-ZA" sz="1800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4" cy="4234943"/>
          </a:xfrm>
        </p:spPr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</a:p>
          <a:p>
            <a:pPr lvl="0"/>
            <a:r>
              <a:rPr lang="en-GB" dirty="0"/>
              <a:t>The information system does not provide full information about an art piece e.g. The system only provides the name of the artist and estimated value.</a:t>
            </a:r>
            <a:endParaRPr lang="en-ZA" dirty="0"/>
          </a:p>
          <a:p>
            <a:pPr lvl="0"/>
            <a:r>
              <a:rPr lang="en-GB" dirty="0"/>
              <a:t>Databases does not support the all the requirements of the system.</a:t>
            </a:r>
            <a:endParaRPr lang="en-ZA" dirty="0"/>
          </a:p>
          <a:p>
            <a:pPr marL="0" lvl="0" indent="0">
              <a:buNone/>
            </a:pPr>
            <a:r>
              <a:rPr lang="en-ZA" sz="2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</a:p>
          <a:p>
            <a:r>
              <a:rPr lang="en-ZA" sz="2200" dirty="0"/>
              <a:t>The gallery uses outdated software and hardware.</a:t>
            </a:r>
          </a:p>
          <a:p>
            <a:r>
              <a:rPr lang="en-ZA" sz="2200" dirty="0"/>
              <a:t>The gallery does not use a uniformed information system ex. The gallery makes use of different application.</a:t>
            </a:r>
          </a:p>
          <a:p>
            <a:r>
              <a:rPr lang="en-ZA" sz="2200" dirty="0"/>
              <a:t>Administration of financial activities e.g. The system did not show any commission or statements obtained when selling the art work.</a:t>
            </a:r>
          </a:p>
          <a:p>
            <a:r>
              <a:rPr lang="en-ZA" sz="2200" dirty="0"/>
              <a:t>Does not support maintenance of system ex. Cannot update information of the art.</a:t>
            </a:r>
            <a:endParaRPr lang="en-ZA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ZA" sz="2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</a:t>
            </a:r>
          </a:p>
          <a:p>
            <a:pPr lvl="0"/>
            <a:r>
              <a:rPr lang="en-GB" dirty="0"/>
              <a:t>Information system does not provide support remote access support.</a:t>
            </a:r>
            <a:endParaRPr lang="en-ZA" dirty="0"/>
          </a:p>
          <a:p>
            <a:pPr lvl="0"/>
            <a:r>
              <a:rPr lang="en-GB" dirty="0"/>
              <a:t>Not all records have been digitised. Records are currently in the organization’s journals.</a:t>
            </a:r>
            <a:r>
              <a:rPr lang="en-AU" dirty="0"/>
              <a:t> </a:t>
            </a:r>
            <a:endParaRPr lang="en-ZA" dirty="0"/>
          </a:p>
          <a:p>
            <a:pPr lvl="0"/>
            <a:r>
              <a:rPr lang="en-GB" dirty="0"/>
              <a:t>The system does not provide a calendar for booking events.</a:t>
            </a:r>
            <a:endParaRPr lang="en-ZA" dirty="0"/>
          </a:p>
          <a:p>
            <a:pPr lvl="0"/>
            <a:r>
              <a:rPr lang="en-GB" dirty="0"/>
              <a:t>Packaged software is too expensive to use and doesn’t support the gallery’s information system fully.</a:t>
            </a:r>
            <a:endParaRPr lang="en-ZA" dirty="0"/>
          </a:p>
          <a:p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71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1323833"/>
            <a:ext cx="9605635" cy="540361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ZA" sz="27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C. REQUIREMENTS</a:t>
            </a:r>
            <a:br>
              <a:rPr lang="en-ZA" sz="1800" b="1" dirty="0"/>
            </a:b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9217" y="1911620"/>
            <a:ext cx="4795946" cy="427191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endParaRPr lang="en-ZA" dirty="0"/>
          </a:p>
          <a:p>
            <a:pPr lvl="0"/>
            <a:r>
              <a:rPr lang="en-GB" dirty="0"/>
              <a:t>A system that provides a full description of the artwork e.g. provide the name of the artist, type of artwork, name of the art piece, collection’s name and price.</a:t>
            </a:r>
            <a:endParaRPr lang="en-ZA" dirty="0"/>
          </a:p>
          <a:p>
            <a:pPr lvl="0"/>
            <a:r>
              <a:rPr lang="en-GB" dirty="0"/>
              <a:t>Database that supports all the requirements.</a:t>
            </a:r>
            <a:endParaRPr lang="en-ZA" dirty="0"/>
          </a:p>
          <a:p>
            <a:pPr lvl="0"/>
            <a:r>
              <a:rPr lang="en-GB" dirty="0"/>
              <a:t>Provide a way to add new clients to the organization’s database.</a:t>
            </a:r>
            <a:endParaRPr lang="en-ZA" dirty="0"/>
          </a:p>
          <a:p>
            <a:pPr marL="0" indent="0">
              <a:buNone/>
            </a:pPr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</a:t>
            </a:r>
            <a:endParaRPr lang="en-ZA" dirty="0"/>
          </a:p>
          <a:p>
            <a:pPr lvl="0"/>
            <a:r>
              <a:rPr lang="en-GB" dirty="0"/>
              <a:t>User interface that is easy to master and is consistent.</a:t>
            </a:r>
            <a:endParaRPr lang="en-ZA" dirty="0"/>
          </a:p>
          <a:p>
            <a:pPr lvl="0"/>
            <a:r>
              <a:rPr lang="en-GB" dirty="0"/>
              <a:t>Provide a help function for the user.</a:t>
            </a:r>
            <a:endParaRPr lang="en-ZA" dirty="0"/>
          </a:p>
          <a:p>
            <a:pPr lvl="0"/>
            <a:r>
              <a:rPr lang="en-GB" dirty="0"/>
              <a:t>Use the similar terminology throughout the system.</a:t>
            </a:r>
            <a:endParaRPr lang="en-ZA" dirty="0"/>
          </a:p>
          <a:p>
            <a:pPr lvl="0"/>
            <a:r>
              <a:rPr lang="en-GB" dirty="0"/>
              <a:t>Caption of the button and menus of the system should be easy to read, understandable and specific.</a:t>
            </a:r>
            <a:endParaRPr lang="en-ZA" dirty="0"/>
          </a:p>
          <a:p>
            <a:pPr lvl="0"/>
            <a:r>
              <a:rPr lang="en-GB" dirty="0"/>
              <a:t>Number of records the system should be able to hold.</a:t>
            </a:r>
            <a:r>
              <a:rPr lang="en-AU" dirty="0"/>
              <a:t> </a:t>
            </a:r>
            <a:endParaRPr lang="en-ZA" dirty="0"/>
          </a:p>
          <a:p>
            <a:pPr marL="0" lvl="0" indent="0">
              <a:buNone/>
            </a:pPr>
            <a:endParaRPr lang="en-ZA" dirty="0"/>
          </a:p>
          <a:p>
            <a:endParaRPr lang="en-ZA" dirty="0"/>
          </a:p>
          <a:p>
            <a:pPr lvl="0"/>
            <a:endParaRPr lang="en-ZA" dirty="0"/>
          </a:p>
          <a:p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5163" y="1864194"/>
            <a:ext cx="4966440" cy="42029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endParaRPr lang="en-ZA" dirty="0"/>
          </a:p>
          <a:p>
            <a:pPr lvl="0"/>
            <a:r>
              <a:rPr lang="en-GB" dirty="0"/>
              <a:t>Uniform system.</a:t>
            </a:r>
            <a:endParaRPr lang="en-ZA" dirty="0"/>
          </a:p>
          <a:p>
            <a:pPr lvl="0"/>
            <a:r>
              <a:rPr lang="en-GB" dirty="0"/>
              <a:t>A system that is easy to integrate with other systems.</a:t>
            </a:r>
            <a:endParaRPr lang="en-ZA" dirty="0"/>
          </a:p>
          <a:p>
            <a:pPr lvl="0"/>
            <a:r>
              <a:rPr lang="en-GB" dirty="0"/>
              <a:t>Incorporate remote access systems.</a:t>
            </a:r>
            <a:endParaRPr lang="en-ZA" dirty="0"/>
          </a:p>
          <a:p>
            <a:pPr lvl="0"/>
            <a:r>
              <a:rPr lang="en-GB" dirty="0"/>
              <a:t>Create an electronic calendar for events booking.</a:t>
            </a:r>
            <a:endParaRPr lang="en-ZA" dirty="0"/>
          </a:p>
          <a:p>
            <a:pPr lvl="0"/>
            <a:r>
              <a:rPr lang="en-GB" dirty="0"/>
              <a:t>The response time should not take too long to process information,</a:t>
            </a:r>
            <a:endParaRPr lang="en-ZA" dirty="0"/>
          </a:p>
          <a:p>
            <a:pPr lvl="0"/>
            <a:r>
              <a:rPr lang="en-GB" dirty="0"/>
              <a:t>The time a record should be held in the system.</a:t>
            </a:r>
            <a:endParaRPr lang="en-ZA" dirty="0"/>
          </a:p>
          <a:p>
            <a:pPr lvl="0"/>
            <a:r>
              <a:rPr lang="en-GB" dirty="0"/>
              <a:t>Confidentiality and security e.g. users should provide password and usernames.</a:t>
            </a:r>
            <a:r>
              <a:rPr lang="en-AU" dirty="0"/>
              <a:t> </a:t>
            </a:r>
            <a:endParaRPr lang="en-ZA" dirty="0"/>
          </a:p>
          <a:p>
            <a:pPr marL="0" indent="0">
              <a:buNone/>
            </a:pPr>
            <a:endParaRPr lang="en-ZA" dirty="0"/>
          </a:p>
          <a:p>
            <a:pPr lvl="0"/>
            <a:endParaRPr lang="en-ZA" dirty="0"/>
          </a:p>
          <a:p>
            <a:pPr marL="0" indent="0">
              <a:buNone/>
            </a:pPr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841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7" y="1378424"/>
            <a:ext cx="9603275" cy="666399"/>
          </a:xfrm>
        </p:spPr>
        <p:txBody>
          <a:bodyPr>
            <a:normAutofit/>
          </a:bodyPr>
          <a:lstStyle/>
          <a:p>
            <a:r>
              <a:rPr lang="en-ZA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D. Opportunity to improve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8" y="1853754"/>
            <a:ext cx="9603275" cy="43013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u="sng" dirty="0">
                <a:solidFill>
                  <a:schemeClr val="bg1">
                    <a:lumMod val="50000"/>
                  </a:schemeClr>
                </a:solidFill>
              </a:rPr>
              <a:t>Selling of artwork online</a:t>
            </a:r>
            <a:endParaRPr lang="en-ZA" u="sng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/>
              <a:t>With the rise in global art markets </a:t>
            </a:r>
            <a:r>
              <a:rPr lang="en-GB" dirty="0" err="1"/>
              <a:t>eCommerce</a:t>
            </a:r>
            <a:r>
              <a:rPr lang="en-GB" dirty="0"/>
              <a:t> and </a:t>
            </a:r>
            <a:r>
              <a:rPr lang="en-GB" dirty="0" err="1"/>
              <a:t>eBusiness</a:t>
            </a:r>
            <a:r>
              <a:rPr lang="en-GB" dirty="0"/>
              <a:t> is necessary to compete with competitors. </a:t>
            </a:r>
            <a:endParaRPr lang="en-ZA" dirty="0"/>
          </a:p>
          <a:p>
            <a:pPr marL="0" indent="0">
              <a:buNone/>
            </a:pPr>
            <a:r>
              <a:rPr lang="en-GB" b="1" u="sng" dirty="0">
                <a:solidFill>
                  <a:schemeClr val="bg1">
                    <a:lumMod val="50000"/>
                  </a:schemeClr>
                </a:solidFill>
              </a:rPr>
              <a:t>Sending notifications for employees</a:t>
            </a:r>
            <a:endParaRPr lang="en-ZA" u="sng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/>
              <a:t>To ensure that all employees are aware of meetings, events and day-to-day activities in terms of the gallery. </a:t>
            </a:r>
            <a:endParaRPr lang="en-ZA" dirty="0"/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endParaRPr lang="en-ZA" sz="4100" b="1" cap="all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/>
            <a:r>
              <a:rPr lang="en-GB" dirty="0"/>
              <a:t>Gallery’s hardware may not support the new information system.</a:t>
            </a:r>
            <a:endParaRPr lang="en-ZA" dirty="0"/>
          </a:p>
          <a:p>
            <a:pPr lvl="0"/>
            <a:r>
              <a:rPr lang="en-GB" dirty="0"/>
              <a:t>System users may not like or understand the output of the new information system.</a:t>
            </a:r>
            <a:endParaRPr lang="en-ZA" dirty="0"/>
          </a:p>
          <a:p>
            <a:pPr lvl="0"/>
            <a:r>
              <a:rPr lang="en-GB" dirty="0"/>
              <a:t>System users and owners might </a:t>
            </a:r>
            <a:r>
              <a:rPr lang="en-AU" dirty="0"/>
              <a:t> </a:t>
            </a:r>
            <a:r>
              <a:rPr lang="en-GB" dirty="0"/>
              <a:t>not be satisfied with the information system.</a:t>
            </a:r>
            <a:endParaRPr lang="en-ZA" dirty="0"/>
          </a:p>
          <a:p>
            <a:endParaRPr lang="en-ZA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51576" y="4503488"/>
            <a:ext cx="9603275" cy="666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ZA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  Risk/ uncertainties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682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2|2.6|2|1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9|21.7|1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2|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2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7|1.7|9.4|7.8|1.1|12.6|4.7|6.4|8.4|23|0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.3|2|1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4|33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.4|9.6|8.6|2.3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418</TotalTime>
  <Words>1042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Gill Sans MT</vt:lpstr>
      <vt:lpstr>Times New Roman</vt:lpstr>
      <vt:lpstr>Gallery</vt:lpstr>
      <vt:lpstr>Proposal for the Gallery information system development project</vt:lpstr>
      <vt:lpstr>Table of content</vt:lpstr>
      <vt:lpstr>1.DEFINITION OF SCOPE A. PROBLEM STATEMENT</vt:lpstr>
      <vt:lpstr>PowerPoint Presentation</vt:lpstr>
      <vt:lpstr>D. BUSINESS FUNCTIONS </vt:lpstr>
      <vt:lpstr>2. Goals  </vt:lpstr>
      <vt:lpstr>3. Schedule of Project </vt:lpstr>
      <vt:lpstr>4. Budget</vt:lpstr>
      <vt:lpstr>5. Proposed solution </vt:lpstr>
      <vt:lpstr>B. EXISTING PROBLEMS </vt:lpstr>
      <vt:lpstr>C. REQUIREMENTS </vt:lpstr>
      <vt:lpstr>D. Opportunity to improve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28975383</dc:creator>
  <cp:lastModifiedBy>28430093</cp:lastModifiedBy>
  <cp:revision>23</cp:revision>
  <dcterms:created xsi:type="dcterms:W3CDTF">2018-02-25T10:24:28Z</dcterms:created>
  <dcterms:modified xsi:type="dcterms:W3CDTF">2018-02-25T19:42:10Z</dcterms:modified>
</cp:coreProperties>
</file>