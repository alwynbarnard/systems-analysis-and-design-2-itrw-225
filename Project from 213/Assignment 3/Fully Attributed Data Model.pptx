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8CCE"/>
    <a:srgbClr val="4975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CC50-E14A-4E0E-A8D1-B2B2065D3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0C188-624F-4CF0-A038-659D96A8C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CF23-36AD-463F-BDB6-697C57B1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CDD17-7A11-4A19-814B-6B9F2D8F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5B77E-2547-44DD-9A13-D3C6C3EA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234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9A4B-DE1A-414B-B4AA-04632B33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B5F84-564E-468B-9DE9-4C2D5101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6965-C1C9-4383-897F-60565FA94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A6EB5-BE27-4255-9166-E98A49BB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AED6B-C2AD-475E-97E7-18E2BEF1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6060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2B73-3E0A-4C25-9374-BD86EC83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0730-E038-4406-B30B-F0BC2B1B6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71C0F-BF81-4E52-9C5D-FE168D04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4F4E-F754-454F-B7C9-3B496785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0807B-9E50-4994-A1B2-0AC22867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018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AB72-57C6-4251-83DD-87C0FE27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D060-3710-40F9-AC04-DDD629F21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9AB73-67AB-40BF-809A-E3B2779C7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DC09C-13CC-4FEB-8A4E-3FEAA843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62049-5A00-4176-B31E-EE7DF760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1A90B-3BEB-4F1E-8107-0A20959F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177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B6CB-B482-4AD3-B78C-3031B9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2AC4-2576-403F-93FF-E00B2105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FCDE6-EE76-42D1-BFAD-8D0178B7C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AA757-68FC-4E6F-A277-E270B01E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1F529-30BE-4DE8-A2EF-68C7CEC90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30A33-311C-40C0-8498-13E5F5246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6F2BD-83DD-4869-B305-001F66C8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E6170-C8FE-47DA-A193-72C6A5D2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753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59C8-D324-4D08-A3A4-90DFA557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50AD58-C50B-4030-B371-F8AABDE5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CFBD4-22DB-4AEA-9664-91A14EAD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B8FD6-9FC1-4B0D-BCC9-3CC81EFC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729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52095-DE02-454E-90D2-82DA9620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9DA6B-2546-4604-A207-DBD40543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41807-B9B4-4AAD-A619-A73B73A1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40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29EE-CAFF-492A-B9A4-87CC9AE0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ADAEB-E164-4ED7-B735-098A37852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BDAE3-EDA8-401C-B244-7F3CF7518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305-DC5F-4A10-8A91-C557614C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592E1-3F0C-44FB-9991-C944369AF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09EB-A279-4DAC-936D-CD034775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532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EA2C-89FA-4AFD-9955-84E45D05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3C3E7-D9F8-444C-A83F-681D0DB8A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1EF59-E8E0-4B55-B990-46FE5120D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06A21-0774-40EE-9AA4-DE4C9E8E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3C565-FEEF-463B-BEC8-BFACC6AD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99C30-0361-43D5-BB3B-F1947200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5284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44BF-F505-4CD4-9E66-AD17AB37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34BC4-B413-4912-A852-E8C9BDE79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5078-10EB-437B-B29F-D3F8B4BC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0EE36-869B-4717-B763-572DF57A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0EF5-63A3-44CF-9454-70287DCA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500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D8940-6D0B-4554-A676-8DA96CFFB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EEB85-C037-49E4-8EA8-1680CE33B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3DA7-275F-4B71-A73A-2DA2AFE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18E31-7CEB-4E48-A151-86E2445C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E6F6-D533-47C6-9BDF-CF76E93E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30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343C9-EC04-4684-8EA4-79291443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94890-D2B1-4174-8C9F-323099E7B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F4B69-633E-435C-B128-C23043D42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6CC1E-86C7-4F31-AABC-9E8E2DAC0D5E}" type="datetimeFigureOut">
              <a:rPr lang="en-ZA" smtClean="0"/>
              <a:t>2018/04/24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2495-43B9-424C-8E8D-463596D12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FAE2-D28A-4907-8D7D-56FB6BD0B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BBC5-2833-4DE9-B6F7-8E57354769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789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75368A0-D8DB-45C2-9C90-9B2F0D489CAF}"/>
              </a:ext>
            </a:extLst>
          </p:cNvPr>
          <p:cNvGrpSpPr/>
          <p:nvPr/>
        </p:nvGrpSpPr>
        <p:grpSpPr>
          <a:xfrm>
            <a:off x="192505" y="429555"/>
            <a:ext cx="2616086" cy="3342952"/>
            <a:chOff x="627321" y="568960"/>
            <a:chExt cx="2405860" cy="3454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82A6AC4-88E9-4313-92BC-C8D3D2BFB328}"/>
                </a:ext>
              </a:extLst>
            </p:cNvPr>
            <p:cNvSpPr/>
            <p:nvPr/>
          </p:nvSpPr>
          <p:spPr>
            <a:xfrm>
              <a:off x="627321" y="568960"/>
              <a:ext cx="2405860" cy="34544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8704A5-B787-4F9E-A91F-39585601E781}"/>
                </a:ext>
              </a:extLst>
            </p:cNvPr>
            <p:cNvSpPr txBox="1"/>
            <p:nvPr/>
          </p:nvSpPr>
          <p:spPr>
            <a:xfrm>
              <a:off x="802101" y="773007"/>
              <a:ext cx="2231078" cy="3053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ARTIST</a:t>
              </a:r>
              <a:endParaRPr lang="en-ZA" b="1" dirty="0"/>
            </a:p>
            <a:p>
              <a:r>
                <a:rPr lang="en-ZA" dirty="0" err="1"/>
                <a:t>Artist_ID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Artist_Inits</a:t>
              </a:r>
              <a:endParaRPr lang="en-ZA" dirty="0"/>
            </a:p>
            <a:p>
              <a:r>
                <a:rPr lang="en-ZA" dirty="0" err="1"/>
                <a:t>Artist_LName</a:t>
              </a:r>
              <a:endParaRPr lang="en-ZA" dirty="0"/>
            </a:p>
            <a:p>
              <a:r>
                <a:rPr lang="en-ZA" dirty="0" err="1"/>
                <a:t>Artist_Cell</a:t>
              </a:r>
              <a:endParaRPr lang="en-ZA" dirty="0"/>
            </a:p>
            <a:p>
              <a:r>
                <a:rPr lang="en-ZA" dirty="0" err="1"/>
                <a:t>Artist_Email</a:t>
              </a:r>
              <a:endParaRPr lang="en-ZA" dirty="0"/>
            </a:p>
            <a:p>
              <a:r>
                <a:rPr lang="en-ZA" dirty="0" err="1"/>
                <a:t>Bank_Code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00B050"/>
                  </a:solidFill>
                </a:rPr>
                <a:t>[FK]</a:t>
              </a:r>
            </a:p>
            <a:p>
              <a:r>
                <a:rPr lang="en-ZA" dirty="0" err="1"/>
                <a:t>Artist_Account_No</a:t>
              </a:r>
              <a:endParaRPr lang="en-ZA" dirty="0"/>
            </a:p>
            <a:p>
              <a:r>
                <a:rPr lang="en-ZA" dirty="0" err="1"/>
                <a:t>Artist_DOB</a:t>
              </a:r>
              <a:endParaRPr lang="en-ZA" dirty="0"/>
            </a:p>
            <a:p>
              <a:r>
                <a:rPr lang="en-ZA" dirty="0" err="1"/>
                <a:t>Artist_DOD</a:t>
              </a:r>
              <a:endParaRPr lang="en-ZA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629301-0B14-472B-B4E6-16F7EFA5E984}"/>
              </a:ext>
            </a:extLst>
          </p:cNvPr>
          <p:cNvGrpSpPr/>
          <p:nvPr/>
        </p:nvGrpSpPr>
        <p:grpSpPr>
          <a:xfrm>
            <a:off x="3115675" y="443323"/>
            <a:ext cx="2190307" cy="1845846"/>
            <a:chOff x="4306186" y="568960"/>
            <a:chExt cx="2190307" cy="191905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DE3E334-1845-47CE-9A8A-7DEFAB2FD862}"/>
                </a:ext>
              </a:extLst>
            </p:cNvPr>
            <p:cNvSpPr/>
            <p:nvPr/>
          </p:nvSpPr>
          <p:spPr>
            <a:xfrm>
              <a:off x="4306186" y="568960"/>
              <a:ext cx="2190307" cy="1919059"/>
            </a:xfrm>
            <a:prstGeom prst="roundRect">
              <a:avLst/>
            </a:prstGeom>
            <a:solidFill>
              <a:srgbClr val="688CCE"/>
            </a:solidFill>
            <a:ln>
              <a:solidFill>
                <a:srgbClr val="688C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ZA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4559C3-1E6F-457B-94D3-4BF13548F9A1}"/>
                </a:ext>
              </a:extLst>
            </p:cNvPr>
            <p:cNvSpPr txBox="1"/>
            <p:nvPr/>
          </p:nvSpPr>
          <p:spPr>
            <a:xfrm>
              <a:off x="4430561" y="752844"/>
              <a:ext cx="1941557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COLLECTION</a:t>
              </a:r>
              <a:endParaRPr lang="en-ZA" dirty="0"/>
            </a:p>
            <a:p>
              <a:r>
                <a:rPr lang="en-ZA" dirty="0" err="1"/>
                <a:t>Collection_No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Collection_Name</a:t>
              </a:r>
              <a:endParaRPr lang="en-ZA" dirty="0"/>
            </a:p>
            <a:p>
              <a:r>
                <a:rPr lang="en-ZA" dirty="0" err="1"/>
                <a:t>Artist_ID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92D050"/>
                  </a:solidFill>
                </a:rPr>
                <a:t>[FK]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58D572-06D6-4C05-9A4F-EDA73D2A7889}"/>
              </a:ext>
            </a:extLst>
          </p:cNvPr>
          <p:cNvGrpSpPr/>
          <p:nvPr/>
        </p:nvGrpSpPr>
        <p:grpSpPr>
          <a:xfrm>
            <a:off x="5607208" y="429555"/>
            <a:ext cx="2561776" cy="3548887"/>
            <a:chOff x="4040372" y="3264195"/>
            <a:chExt cx="2561776" cy="359380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5E19226-45D0-4505-871A-E3DBFF582A80}"/>
                </a:ext>
              </a:extLst>
            </p:cNvPr>
            <p:cNvSpPr/>
            <p:nvPr/>
          </p:nvSpPr>
          <p:spPr>
            <a:xfrm>
              <a:off x="4040372" y="3264195"/>
              <a:ext cx="2561776" cy="359380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B0755F-7D5B-4FFE-BEFB-B82759E17C68}"/>
                </a:ext>
              </a:extLst>
            </p:cNvPr>
            <p:cNvSpPr txBox="1"/>
            <p:nvPr/>
          </p:nvSpPr>
          <p:spPr>
            <a:xfrm>
              <a:off x="4321940" y="3443236"/>
              <a:ext cx="2158796" cy="2992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ARTWORK</a:t>
              </a:r>
              <a:endParaRPr lang="en-ZA" dirty="0"/>
            </a:p>
            <a:p>
              <a:r>
                <a:rPr lang="en-ZA" dirty="0" err="1"/>
                <a:t>Artwork_ID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Collection_No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92D050"/>
                  </a:solidFill>
                </a:rPr>
                <a:t>[FK]</a:t>
              </a:r>
            </a:p>
            <a:p>
              <a:r>
                <a:rPr lang="en-ZA" dirty="0" err="1"/>
                <a:t>Artwork_Title</a:t>
              </a:r>
              <a:endParaRPr lang="en-ZA" dirty="0"/>
            </a:p>
            <a:p>
              <a:r>
                <a:rPr lang="en-ZA" dirty="0" err="1"/>
                <a:t>Artwork_DOC</a:t>
              </a:r>
              <a:endParaRPr lang="en-ZA" dirty="0"/>
            </a:p>
            <a:p>
              <a:r>
                <a:rPr lang="en-ZA" dirty="0" err="1"/>
                <a:t>Medium_Code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92D050"/>
                  </a:solidFill>
                </a:rPr>
                <a:t>[FK]</a:t>
              </a:r>
            </a:p>
            <a:p>
              <a:r>
                <a:rPr lang="en-ZA" dirty="0" err="1"/>
                <a:t>Length_cm</a:t>
              </a:r>
              <a:endParaRPr lang="en-ZA" dirty="0"/>
            </a:p>
            <a:p>
              <a:r>
                <a:rPr lang="en-ZA" dirty="0" err="1"/>
                <a:t>Width_cm</a:t>
              </a:r>
              <a:endParaRPr lang="en-ZA" dirty="0"/>
            </a:p>
            <a:p>
              <a:r>
                <a:rPr lang="en-ZA" dirty="0" err="1"/>
                <a:t>Art_Status</a:t>
              </a:r>
              <a:endParaRPr lang="en-ZA" dirty="0"/>
            </a:p>
            <a:p>
              <a:r>
                <a:rPr lang="en-ZA" dirty="0" err="1"/>
                <a:t>Art_Estimated_Value</a:t>
              </a:r>
              <a:endParaRPr lang="en-ZA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8A380-E801-4CD4-8C65-A45C648014A0}"/>
              </a:ext>
            </a:extLst>
          </p:cNvPr>
          <p:cNvGrpSpPr/>
          <p:nvPr/>
        </p:nvGrpSpPr>
        <p:grpSpPr>
          <a:xfrm>
            <a:off x="8470210" y="458646"/>
            <a:ext cx="2076657" cy="2839453"/>
            <a:chOff x="4251157" y="3256547"/>
            <a:chExt cx="2076657" cy="283945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7123550-0B74-42A6-8536-81C4EB3897DD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5C78A7-3CDA-47F4-9E27-D5C3F0675DB6}"/>
                </a:ext>
              </a:extLst>
            </p:cNvPr>
            <p:cNvSpPr txBox="1"/>
            <p:nvPr/>
          </p:nvSpPr>
          <p:spPr>
            <a:xfrm>
              <a:off x="4404353" y="3256547"/>
              <a:ext cx="192346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CLIENT</a:t>
              </a:r>
              <a:endParaRPr lang="en-ZA" b="1" dirty="0"/>
            </a:p>
            <a:p>
              <a:r>
                <a:rPr lang="en-ZA" dirty="0" err="1"/>
                <a:t>Client_ID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  <a:r>
                <a:rPr lang="en-ZA" dirty="0"/>
                <a:t>[</a:t>
              </a:r>
              <a:r>
                <a:rPr lang="en-ZA" dirty="0">
                  <a:solidFill>
                    <a:srgbClr val="00B050"/>
                  </a:solidFill>
                </a:rPr>
                <a:t>FK]</a:t>
              </a:r>
            </a:p>
            <a:p>
              <a:r>
                <a:rPr lang="en-ZA" dirty="0" err="1"/>
                <a:t>Client_FName</a:t>
              </a:r>
              <a:endParaRPr lang="en-ZA" dirty="0"/>
            </a:p>
            <a:p>
              <a:r>
                <a:rPr lang="en-ZA" dirty="0" err="1"/>
                <a:t>Client_LName</a:t>
              </a:r>
              <a:endParaRPr lang="en-ZA" dirty="0"/>
            </a:p>
            <a:p>
              <a:r>
                <a:rPr lang="en-ZA" dirty="0" err="1"/>
                <a:t>Client_Cell</a:t>
              </a:r>
              <a:endParaRPr lang="en-ZA" dirty="0"/>
            </a:p>
            <a:p>
              <a:r>
                <a:rPr lang="en-ZA" dirty="0" err="1"/>
                <a:t>Client_Email</a:t>
              </a:r>
              <a:endParaRPr lang="en-ZA" dirty="0"/>
            </a:p>
            <a:p>
              <a:r>
                <a:rPr lang="en-ZA" dirty="0" err="1"/>
                <a:t>Street_Adress</a:t>
              </a:r>
              <a:endParaRPr lang="en-ZA" dirty="0"/>
            </a:p>
            <a:p>
              <a:r>
                <a:rPr lang="en-ZA" dirty="0" err="1"/>
                <a:t>Street_Nr</a:t>
              </a:r>
              <a:endParaRPr lang="en-ZA" dirty="0"/>
            </a:p>
            <a:p>
              <a:r>
                <a:rPr lang="en-ZA" dirty="0" err="1"/>
                <a:t>City_ID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00B050"/>
                  </a:solidFill>
                </a:rPr>
                <a:t>[FK]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77340E-D729-4213-9339-C7925A2A6ABA}"/>
              </a:ext>
            </a:extLst>
          </p:cNvPr>
          <p:cNvGrpSpPr/>
          <p:nvPr/>
        </p:nvGrpSpPr>
        <p:grpSpPr>
          <a:xfrm>
            <a:off x="8623406" y="3524084"/>
            <a:ext cx="2076657" cy="1113022"/>
            <a:chOff x="4251157" y="3256547"/>
            <a:chExt cx="2076657" cy="2839453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F26441F0-A1D6-473A-977E-780DFDED2BE0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BFEA73-587E-4C1B-A2DD-DDA38C7DC77B}"/>
                </a:ext>
              </a:extLst>
            </p:cNvPr>
            <p:cNvSpPr txBox="1"/>
            <p:nvPr/>
          </p:nvSpPr>
          <p:spPr>
            <a:xfrm>
              <a:off x="4356953" y="3461172"/>
              <a:ext cx="1923461" cy="25910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BANK</a:t>
              </a:r>
              <a:endParaRPr lang="en-ZA" b="1" dirty="0"/>
            </a:p>
            <a:p>
              <a:r>
                <a:rPr lang="en-ZA" dirty="0" err="1"/>
                <a:t>Bank_Code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Bank_Name</a:t>
              </a:r>
              <a:endParaRPr lang="en-ZA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F051B9-B6D2-4ADA-96D1-DD4D276932E2}"/>
              </a:ext>
            </a:extLst>
          </p:cNvPr>
          <p:cNvGrpSpPr/>
          <p:nvPr/>
        </p:nvGrpSpPr>
        <p:grpSpPr>
          <a:xfrm>
            <a:off x="261886" y="3988194"/>
            <a:ext cx="2477324" cy="1322936"/>
            <a:chOff x="4251157" y="3256547"/>
            <a:chExt cx="2076657" cy="2839453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18FF8C3-CEFE-4D1B-9C4A-1AC4B4AB7EC7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0646503-C7E3-45F3-AE9C-7BE06F7051DB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217994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MEDIUM</a:t>
              </a:r>
              <a:endParaRPr lang="en-ZA" b="1" dirty="0"/>
            </a:p>
            <a:p>
              <a:r>
                <a:rPr lang="en-ZA" dirty="0" err="1"/>
                <a:t>Medium_Code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Medium_Description</a:t>
              </a:r>
              <a:endParaRPr lang="en-ZA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112D5BD-6713-4CB7-80FB-7BAF67681C79}"/>
              </a:ext>
            </a:extLst>
          </p:cNvPr>
          <p:cNvGrpSpPr/>
          <p:nvPr/>
        </p:nvGrpSpPr>
        <p:grpSpPr>
          <a:xfrm>
            <a:off x="192505" y="5406467"/>
            <a:ext cx="2477324" cy="1322936"/>
            <a:chOff x="4251157" y="3256547"/>
            <a:chExt cx="2076657" cy="2839453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C7A1B6-E0F6-4196-8396-3B29BA103153}"/>
                </a:ext>
              </a:extLst>
            </p:cNvPr>
            <p:cNvSpPr/>
            <p:nvPr/>
          </p:nvSpPr>
          <p:spPr>
            <a:xfrm>
              <a:off x="4251157" y="3256547"/>
              <a:ext cx="2076657" cy="283945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8A601EE-762D-403A-987E-60EA5CF222D1}"/>
                </a:ext>
              </a:extLst>
            </p:cNvPr>
            <p:cNvSpPr txBox="1"/>
            <p:nvPr/>
          </p:nvSpPr>
          <p:spPr>
            <a:xfrm>
              <a:off x="4384465" y="3461171"/>
              <a:ext cx="1923461" cy="2179945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ZA" sz="2400" b="1" dirty="0"/>
                <a:t>CITY</a:t>
              </a:r>
              <a:endParaRPr lang="en-ZA" b="1" dirty="0"/>
            </a:p>
            <a:p>
              <a:r>
                <a:rPr lang="en-ZA" dirty="0" err="1"/>
                <a:t>City_Code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City_Name</a:t>
              </a:r>
              <a:endParaRPr lang="en-ZA" dirty="0"/>
            </a:p>
          </p:txBody>
        </p:sp>
      </p:grpSp>
    </p:spTree>
    <p:extLst>
      <p:ext uri="{BB962C8B-B14F-4D97-AF65-F5344CB8AC3E}">
        <p14:creationId xmlns:p14="http://schemas.microsoft.com/office/powerpoint/2010/main" val="406971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4AC314-7650-40E6-B1B8-E90B284EE3B5}"/>
              </a:ext>
            </a:extLst>
          </p:cNvPr>
          <p:cNvGrpSpPr/>
          <p:nvPr/>
        </p:nvGrpSpPr>
        <p:grpSpPr>
          <a:xfrm>
            <a:off x="424501" y="738407"/>
            <a:ext cx="3257550" cy="2628900"/>
            <a:chOff x="704850" y="781050"/>
            <a:chExt cx="3257550" cy="26289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BF16F83-6557-4666-A2D6-F43E2B07D140}"/>
                </a:ext>
              </a:extLst>
            </p:cNvPr>
            <p:cNvSpPr/>
            <p:nvPr/>
          </p:nvSpPr>
          <p:spPr>
            <a:xfrm>
              <a:off x="704850" y="781050"/>
              <a:ext cx="3257550" cy="262890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F0C28F-5E73-4B69-A793-4CAEDF54BF47}"/>
                </a:ext>
              </a:extLst>
            </p:cNvPr>
            <p:cNvSpPr txBox="1"/>
            <p:nvPr/>
          </p:nvSpPr>
          <p:spPr>
            <a:xfrm>
              <a:off x="923655" y="952500"/>
              <a:ext cx="2819939" cy="21236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ZA" sz="2400" b="1" dirty="0"/>
                <a:t>SALE_TRANSACTION</a:t>
              </a:r>
            </a:p>
            <a:p>
              <a:r>
                <a:rPr lang="en-ZA" dirty="0" err="1"/>
                <a:t>Transaction_ID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FF0000"/>
                  </a:solidFill>
                </a:rPr>
                <a:t>[PK]</a:t>
              </a:r>
            </a:p>
            <a:p>
              <a:r>
                <a:rPr lang="en-ZA" dirty="0" err="1"/>
                <a:t>Sale_Date</a:t>
              </a:r>
              <a:endParaRPr lang="en-ZA" dirty="0"/>
            </a:p>
            <a:p>
              <a:r>
                <a:rPr lang="en-ZA" dirty="0" err="1"/>
                <a:t>Client_ID</a:t>
              </a:r>
              <a:r>
                <a:rPr lang="en-ZA" dirty="0"/>
                <a:t> </a:t>
              </a:r>
              <a:r>
                <a:rPr lang="en-ZA" dirty="0">
                  <a:solidFill>
                    <a:srgbClr val="00B050"/>
                  </a:solidFill>
                </a:rPr>
                <a:t>[FK]</a:t>
              </a:r>
            </a:p>
            <a:p>
              <a:r>
                <a:rPr lang="en-ZA" dirty="0" err="1"/>
                <a:t>Percent_Commision</a:t>
              </a:r>
              <a:endParaRPr lang="en-ZA" dirty="0"/>
            </a:p>
            <a:p>
              <a:r>
                <a:rPr lang="en-ZA" dirty="0" err="1"/>
                <a:t>Percent_VAT</a:t>
              </a:r>
              <a:endParaRPr lang="en-ZA" dirty="0"/>
            </a:p>
            <a:p>
              <a:r>
                <a:rPr lang="en-ZA" dirty="0" err="1"/>
                <a:t>Delivery_Method</a:t>
              </a:r>
              <a:endParaRPr lang="en-ZA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A7A502-39B1-492A-92A4-E1CA838DAA72}"/>
              </a:ext>
            </a:extLst>
          </p:cNvPr>
          <p:cNvGrpSpPr/>
          <p:nvPr/>
        </p:nvGrpSpPr>
        <p:grpSpPr>
          <a:xfrm>
            <a:off x="6096000" y="1114436"/>
            <a:ext cx="4365504" cy="1714500"/>
            <a:chOff x="6643297" y="1114436"/>
            <a:chExt cx="4365504" cy="17145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159E0B-3C74-4729-A825-B5AC9059071C}"/>
                </a:ext>
              </a:extLst>
            </p:cNvPr>
            <p:cNvGrpSpPr/>
            <p:nvPr/>
          </p:nvGrpSpPr>
          <p:grpSpPr>
            <a:xfrm>
              <a:off x="6659213" y="1114436"/>
              <a:ext cx="4349588" cy="1714500"/>
              <a:chOff x="6659217" y="952500"/>
              <a:chExt cx="4349588" cy="1714500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B2EF39B-4298-424C-831F-E0F68B4ED6F4}"/>
                  </a:ext>
                </a:extLst>
              </p:cNvPr>
              <p:cNvSpPr/>
              <p:nvPr/>
            </p:nvSpPr>
            <p:spPr>
              <a:xfrm>
                <a:off x="6659217" y="952500"/>
                <a:ext cx="4349588" cy="1714500"/>
              </a:xfrm>
              <a:prstGeom prst="roundRect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35418-ED6A-4E02-BEEF-943B8093EB84}"/>
                  </a:ext>
                </a:extLst>
              </p:cNvPr>
              <p:cNvSpPr txBox="1"/>
              <p:nvPr/>
            </p:nvSpPr>
            <p:spPr>
              <a:xfrm>
                <a:off x="6785224" y="1144255"/>
                <a:ext cx="4207661" cy="1292662"/>
              </a:xfrm>
              <a:prstGeom prst="rect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ZA" sz="2400" b="1" dirty="0"/>
                  <a:t>SALE_TRANSACTION_DETAIL</a:t>
                </a:r>
              </a:p>
              <a:p>
                <a:r>
                  <a:rPr lang="en-ZA" dirty="0" err="1"/>
                  <a:t>Transaction_ID</a:t>
                </a:r>
                <a:r>
                  <a:rPr lang="en-ZA" dirty="0"/>
                  <a:t> </a:t>
                </a:r>
                <a:r>
                  <a:rPr lang="en-ZA" dirty="0">
                    <a:solidFill>
                      <a:srgbClr val="FF0000"/>
                    </a:solidFill>
                  </a:rPr>
                  <a:t>[PK] </a:t>
                </a:r>
                <a:r>
                  <a:rPr lang="en-ZA" dirty="0">
                    <a:solidFill>
                      <a:srgbClr val="00B050"/>
                    </a:solidFill>
                  </a:rPr>
                  <a:t>[FK]</a:t>
                </a:r>
              </a:p>
              <a:p>
                <a:r>
                  <a:rPr lang="en-ZA" dirty="0" err="1"/>
                  <a:t>Artwork_ID</a:t>
                </a:r>
                <a:r>
                  <a:rPr lang="en-ZA" dirty="0"/>
                  <a:t> </a:t>
                </a:r>
                <a:r>
                  <a:rPr lang="en-ZA" dirty="0">
                    <a:solidFill>
                      <a:srgbClr val="FF0000"/>
                    </a:solidFill>
                  </a:rPr>
                  <a:t>[PK] </a:t>
                </a:r>
                <a:r>
                  <a:rPr lang="en-ZA" dirty="0">
                    <a:solidFill>
                      <a:srgbClr val="00B050"/>
                    </a:solidFill>
                  </a:rPr>
                  <a:t>[FK]</a:t>
                </a:r>
              </a:p>
              <a:p>
                <a:r>
                  <a:rPr lang="en-ZA" dirty="0" err="1"/>
                  <a:t>Sales_Price</a:t>
                </a:r>
                <a:endParaRPr lang="en-ZA" dirty="0"/>
              </a:p>
            </p:txBody>
          </p:sp>
        </p:grpSp>
        <p:sp>
          <p:nvSpPr>
            <p:cNvPr id="2" name="Diamond 1">
              <a:extLst>
                <a:ext uri="{FF2B5EF4-FFF2-40B4-BE49-F238E27FC236}">
                  <a16:creationId xmlns:a16="http://schemas.microsoft.com/office/drawing/2014/main" id="{71617DCE-7C65-4D67-8D3F-B9D1775B36AE}"/>
                </a:ext>
              </a:extLst>
            </p:cNvPr>
            <p:cNvSpPr/>
            <p:nvPr/>
          </p:nvSpPr>
          <p:spPr>
            <a:xfrm>
              <a:off x="6643297" y="1117752"/>
              <a:ext cx="4349584" cy="1711184"/>
            </a:xfrm>
            <a:prstGeom prst="diamond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</p:spTree>
    <p:extLst>
      <p:ext uri="{BB962C8B-B14F-4D97-AF65-F5344CB8AC3E}">
        <p14:creationId xmlns:p14="http://schemas.microsoft.com/office/powerpoint/2010/main" val="23350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207</Words>
  <Application>Microsoft Office PowerPoint</Application>
  <PresentationFormat>Widescreen</PresentationFormat>
  <Paragraphs>53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28430093</dc:creator>
  <cp:lastModifiedBy>28430093</cp:lastModifiedBy>
  <cp:revision>15</cp:revision>
  <dcterms:created xsi:type="dcterms:W3CDTF">2018-04-18T14:34:13Z</dcterms:created>
  <dcterms:modified xsi:type="dcterms:W3CDTF">2018-04-24T12:45:09Z</dcterms:modified>
</cp:coreProperties>
</file>